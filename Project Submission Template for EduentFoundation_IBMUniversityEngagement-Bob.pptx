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91" r:id="rId5"/>
    <p:sldId id="285" r:id="rId6"/>
    <p:sldId id="290" r:id="rId7"/>
    <p:sldId id="278" r:id="rId8"/>
    <p:sldId id="279" r:id="rId9"/>
    <p:sldId id="262" r:id="rId10"/>
    <p:sldId id="264" r:id="rId11"/>
    <p:sldId id="277" r:id="rId12"/>
    <p:sldId id="286"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ishti" userId="1562d6fa-893e-4949-8e31-e1be6aac81db" providerId="ADAL" clId="{6D4A2697-E1D7-4D9D-AFF0-FB5F1305AA28}"/>
    <pc:docChg chg="custSel delSld modSld">
      <pc:chgData name="Drishti" userId="1562d6fa-893e-4949-8e31-e1be6aac81db" providerId="ADAL" clId="{6D4A2697-E1D7-4D9D-AFF0-FB5F1305AA28}" dt="2026-06-24T06:31:21.263" v="8" actId="20577"/>
      <pc:docMkLst>
        <pc:docMk/>
      </pc:docMkLst>
      <pc:sldChg chg="delSp modSp mod">
        <pc:chgData name="Drishti" userId="1562d6fa-893e-4949-8e31-e1be6aac81db" providerId="ADAL" clId="{6D4A2697-E1D7-4D9D-AFF0-FB5F1305AA28}" dt="2026-06-24T06:31:21.263" v="8" actId="20577"/>
        <pc:sldMkLst>
          <pc:docMk/>
          <pc:sldMk cId="2772501912" sldId="279"/>
        </pc:sldMkLst>
        <pc:spChg chg="mod">
          <ac:chgData name="Drishti" userId="1562d6fa-893e-4949-8e31-e1be6aac81db" providerId="ADAL" clId="{6D4A2697-E1D7-4D9D-AFF0-FB5F1305AA28}" dt="2026-06-24T06:31:21.263" v="8" actId="20577"/>
          <ac:spMkLst>
            <pc:docMk/>
            <pc:sldMk cId="2772501912" sldId="279"/>
            <ac:spMk id="2" creationId="{B64CF172-D2AF-03D8-F919-AA7827A0D969}"/>
          </ac:spMkLst>
        </pc:spChg>
        <pc:picChg chg="del">
          <ac:chgData name="Drishti" userId="1562d6fa-893e-4949-8e31-e1be6aac81db" providerId="ADAL" clId="{6D4A2697-E1D7-4D9D-AFF0-FB5F1305AA28}" dt="2026-06-24T06:31:14.832" v="1" actId="478"/>
          <ac:picMkLst>
            <pc:docMk/>
            <pc:sldMk cId="2772501912" sldId="279"/>
            <ac:picMk id="4" creationId="{C597681A-DF93-B190-DD21-CBAEDA4E3CBF}"/>
          </ac:picMkLst>
        </pc:picChg>
      </pc:sldChg>
      <pc:sldChg chg="del">
        <pc:chgData name="Drishti" userId="1562d6fa-893e-4949-8e31-e1be6aac81db" providerId="ADAL" clId="{6D4A2697-E1D7-4D9D-AFF0-FB5F1305AA28}" dt="2026-06-24T06:31:11.660" v="0" actId="2696"/>
        <pc:sldMkLst>
          <pc:docMk/>
          <pc:sldMk cId="328526394"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rdutta@iujaipur.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rdutta-ui/Research-Agent-Project.gi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50844754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Dr. Rishav Dutta</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err="1">
                          <a:hlinkClick r:id="rId3"/>
                        </a:rPr>
                        <a:t>rdutta@iujaipur.edu.in</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8617753998</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latin typeface="+mj-lt"/>
                <a:cs typeface="Times New Roman" panose="02020603050405020304" pitchFamily="18" charset="0"/>
              </a:rPr>
              <a:t>Research (Education)</a:t>
            </a:r>
            <a:endParaRPr lang="en-IN" sz="2400" b="1" dirty="0">
              <a:latin typeface="+mj-lt"/>
              <a:cs typeface="Times New Roman" panose="02020603050405020304" pitchFamily="18"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000" b="1" dirty="0">
                <a:latin typeface="+mj-lt"/>
                <a:cs typeface="Times New Roman" panose="02020603050405020304" pitchFamily="18" charset="0"/>
              </a:rPr>
              <a:t>Research Agent</a:t>
            </a:r>
            <a:endParaRPr lang="en-IN" sz="2400" b="1" dirty="0">
              <a:latin typeface="+mj-lt"/>
              <a:cs typeface="Times New Roman" panose="02020603050405020304" pitchFamily="18" charset="0"/>
            </a:endParaRPr>
          </a:p>
        </p:txBody>
      </p:sp>
      <p:pic>
        <p:nvPicPr>
          <p:cNvPr id="5" name="Picture 4">
            <a:extLst>
              <a:ext uri="{FF2B5EF4-FFF2-40B4-BE49-F238E27FC236}">
                <a16:creationId xmlns:a16="http://schemas.microsoft.com/office/drawing/2014/main" id="{A8C6D798-4684-4A24-9A9B-B045CBB6F757}"/>
              </a:ext>
            </a:extLst>
          </p:cNvPr>
          <p:cNvPicPr>
            <a:picLocks noChangeAspect="1"/>
          </p:cNvPicPr>
          <p:nvPr/>
        </p:nvPicPr>
        <p:blipFill>
          <a:blip r:embed="rId4"/>
          <a:stretch>
            <a:fillRect/>
          </a:stretch>
        </p:blipFill>
        <p:spPr>
          <a:xfrm>
            <a:off x="4146519" y="3676453"/>
            <a:ext cx="934528" cy="10909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708981"/>
          </a:xfrm>
          <a:prstGeom prst="rect">
            <a:avLst/>
          </a:prstGeom>
          <a:noFill/>
        </p:spPr>
        <p:txBody>
          <a:bodyPr wrap="square" rtlCol="0">
            <a:spAutoFit/>
          </a:bodyPr>
          <a:lstStyle/>
          <a:p>
            <a:pPr fontAlgn="base"/>
            <a:r>
              <a:rPr lang="en-US" sz="2000" b="1" dirty="0"/>
              <a:t>Problem Statement : Research Agent</a:t>
            </a:r>
            <a:r>
              <a:rPr lang="en-US" sz="2000" dirty="0"/>
              <a:t> </a:t>
            </a:r>
          </a:p>
          <a:p>
            <a:pPr fontAlgn="base"/>
            <a:endParaRPr lang="en-US" sz="2000" b="1" dirty="0"/>
          </a:p>
          <a:p>
            <a:r>
              <a:rPr lang="en-IN" sz="2000" b="1" dirty="0"/>
              <a:t>The Challenge</a:t>
            </a:r>
            <a:endParaRPr lang="en-IN" sz="2000" dirty="0"/>
          </a:p>
          <a:p>
            <a:r>
              <a:rPr lang="en-IN" sz="2000" dirty="0"/>
              <a:t>Researchers,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 </a:t>
            </a:r>
            <a:r>
              <a:rPr lang="en-IN" sz="2000" b="1" dirty="0"/>
              <a:t>synthesize, </a:t>
            </a:r>
            <a:r>
              <a:rPr lang="en-IN" sz="2000" b="1" dirty="0" err="1"/>
              <a:t>analyze</a:t>
            </a:r>
            <a:r>
              <a:rPr lang="en-IN" sz="2000" b="1" dirty="0"/>
              <a:t>, and generate actionable research insights</a:t>
            </a:r>
            <a:r>
              <a:rPr lang="en-IN" sz="2000" dirty="0"/>
              <a:t> in real time.</a:t>
            </a:r>
          </a:p>
          <a:p>
            <a:r>
              <a:rPr lang="en-IN" sz="2000" b="1" dirty="0"/>
              <a:t>The Objective</a:t>
            </a:r>
            <a:endParaRPr lang="en-IN" sz="2000" dirty="0"/>
          </a:p>
          <a:p>
            <a:r>
              <a:rPr lang="en-IN" sz="2000" dirty="0"/>
              <a:t>Build an </a:t>
            </a:r>
            <a:r>
              <a:rPr lang="en-IN" sz="2000" b="1" dirty="0"/>
              <a:t>agentic AI application</a:t>
            </a:r>
            <a:r>
              <a:rPr lang="en-IN" sz="2000" dirty="0"/>
              <a:t> that acts as an intelligent research companion. The solution should:</a:t>
            </a:r>
          </a:p>
          <a:p>
            <a:pPr lvl="0"/>
            <a:r>
              <a:rPr lang="en-IN" sz="2000" b="1" dirty="0"/>
              <a:t>Fuse Academic Sources:</a:t>
            </a:r>
            <a:r>
              <a:rPr lang="en-IN" sz="2000" dirty="0"/>
              <a:t> Aggregate data from research papers, journals, preprints, and knowledge repositories, then synthesize them into clear, concise literature reviews.</a:t>
            </a:r>
          </a:p>
          <a:p>
            <a:pPr lvl="0"/>
            <a:r>
              <a:rPr lang="en-IN" sz="2000" b="1" dirty="0"/>
              <a:t>Enable Multimodal Research Input:</a:t>
            </a:r>
            <a:r>
              <a:rPr lang="en-IN" sz="2000" dirty="0"/>
              <a:t> Accept user queries, notes, charts, or even PDFs, and convert them into structured insights, references, and summaries.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FE0DED-BF0F-0D7C-A1B5-DCC8B8410C3D}"/>
              </a:ext>
            </a:extLst>
          </p:cNvPr>
          <p:cNvSpPr txBox="1"/>
          <p:nvPr/>
        </p:nvSpPr>
        <p:spPr>
          <a:xfrm>
            <a:off x="1114719" y="779456"/>
            <a:ext cx="9867508" cy="1938992"/>
          </a:xfrm>
          <a:prstGeom prst="rect">
            <a:avLst/>
          </a:prstGeom>
          <a:noFill/>
        </p:spPr>
        <p:txBody>
          <a:bodyPr wrap="square">
            <a:spAutoFit/>
          </a:bodyPr>
          <a:lstStyle/>
          <a:p>
            <a:pPr lvl="0"/>
            <a:r>
              <a:rPr lang="en-IN" sz="2000" b="1" dirty="0"/>
              <a:t>Create a Predictive &amp; Agentic Layer:</a:t>
            </a:r>
            <a:r>
              <a:rPr lang="en-IN" sz="2000" dirty="0"/>
              <a:t> Highlight emerging trends, detect citation gaps, and predict promising directions for future research in a given domain.</a:t>
            </a:r>
          </a:p>
          <a:p>
            <a:pPr lvl="0"/>
            <a:r>
              <a:rPr lang="en-IN" sz="2000" b="1" dirty="0"/>
              <a:t>Visualize Research Insights:</a:t>
            </a:r>
            <a:r>
              <a:rPr lang="en-IN" sz="2000" dirty="0"/>
              <a:t> Provide an interactive dashboard with topic clusters, citation maps, sentiment/trend analysis, and concise knowledge graphs.</a:t>
            </a:r>
          </a:p>
          <a:p>
            <a:r>
              <a:rPr lang="en-IN" sz="2000" b="1" dirty="0"/>
              <a:t>Tech Stack (Mandatory)</a:t>
            </a:r>
            <a:endParaRPr lang="en-IN" sz="2000" dirty="0"/>
          </a:p>
          <a:p>
            <a:pPr lvl="0"/>
            <a:r>
              <a:rPr lang="en-IN" sz="2000" dirty="0"/>
              <a:t>IBM </a:t>
            </a:r>
            <a:r>
              <a:rPr lang="en-IN" sz="2000" dirty="0" err="1"/>
              <a:t>Langflow</a:t>
            </a:r>
            <a:r>
              <a:rPr lang="en-IN" sz="2000" dirty="0"/>
              <a:t> / IBM Orchestrate + IBM Models</a:t>
            </a:r>
          </a:p>
        </p:txBody>
      </p:sp>
    </p:spTree>
    <p:extLst>
      <p:ext uri="{BB962C8B-B14F-4D97-AF65-F5344CB8AC3E}">
        <p14:creationId xmlns:p14="http://schemas.microsoft.com/office/powerpoint/2010/main" val="362258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696354"/>
            <a:ext cx="10607040" cy="4093428"/>
          </a:xfrm>
          <a:prstGeom prst="rect">
            <a:avLst/>
          </a:prstGeom>
          <a:noFill/>
        </p:spPr>
        <p:txBody>
          <a:bodyPr wrap="square" rtlCol="0">
            <a:spAutoFit/>
          </a:bodyPr>
          <a:lstStyle/>
          <a:p>
            <a:r>
              <a:rPr lang="en-IN" sz="2000" b="1" dirty="0"/>
              <a:t>Objective</a:t>
            </a:r>
            <a:br>
              <a:rPr lang="en-IN" sz="2000" dirty="0"/>
            </a:br>
            <a:r>
              <a:rPr lang="en-IN" sz="2000" dirty="0"/>
              <a:t>Develop an agentic AI assistant that autonomously discovers, </a:t>
            </a:r>
            <a:r>
              <a:rPr lang="en-IN" sz="2000" dirty="0" err="1"/>
              <a:t>analyzes</a:t>
            </a:r>
            <a:r>
              <a:rPr lang="en-IN" sz="2000" dirty="0"/>
              <a:t>, and synthesizes scientific knowledge from diverse sources.</a:t>
            </a:r>
          </a:p>
          <a:p>
            <a:r>
              <a:rPr lang="en-IN" sz="2000" b="1" dirty="0"/>
              <a:t>Key Features</a:t>
            </a:r>
            <a:endParaRPr lang="en-IN" sz="2000" dirty="0"/>
          </a:p>
          <a:p>
            <a:r>
              <a:rPr lang="en-IN" sz="2000" b="1" dirty="0"/>
              <a:t>Literature Fusion</a:t>
            </a:r>
            <a:r>
              <a:rPr lang="en-IN" sz="2000" dirty="0"/>
              <a:t> </a:t>
            </a:r>
          </a:p>
          <a:p>
            <a:pPr lvl="1"/>
            <a:r>
              <a:rPr lang="en-IN" sz="2000" dirty="0"/>
              <a:t>Aggregates papers from </a:t>
            </a:r>
            <a:r>
              <a:rPr lang="en-IN" sz="2000" dirty="0" err="1"/>
              <a:t>arXiv</a:t>
            </a:r>
            <a:r>
              <a:rPr lang="en-IN" sz="2000" dirty="0"/>
              <a:t>, PubMed, Semantic Scholar, journals, and repositories. </a:t>
            </a:r>
          </a:p>
          <a:p>
            <a:pPr lvl="1"/>
            <a:r>
              <a:rPr lang="en-IN" sz="2000" dirty="0"/>
              <a:t>Generates concise literature reviews and comparative summaries. </a:t>
            </a:r>
          </a:p>
          <a:p>
            <a:r>
              <a:rPr lang="en-IN" sz="2000" b="1" dirty="0"/>
              <a:t>Multimodal Understanding</a:t>
            </a:r>
            <a:r>
              <a:rPr lang="en-IN" sz="2000" dirty="0"/>
              <a:t> </a:t>
            </a:r>
          </a:p>
          <a:p>
            <a:pPr lvl="1"/>
            <a:r>
              <a:rPr lang="en-IN" sz="2000" dirty="0"/>
              <a:t>Accepts PDFs, notes, tables, charts, and images. </a:t>
            </a:r>
          </a:p>
          <a:p>
            <a:pPr lvl="1"/>
            <a:r>
              <a:rPr lang="en-IN" sz="2000" dirty="0"/>
              <a:t>Extracts methodologies, findings, limitations, and references. </a:t>
            </a:r>
          </a:p>
          <a:p>
            <a:r>
              <a:rPr lang="en-IN" sz="2000" b="1" dirty="0"/>
              <a:t>Predictive Intelligence</a:t>
            </a:r>
            <a:r>
              <a:rPr lang="en-IN" sz="2000" dirty="0"/>
              <a:t> </a:t>
            </a:r>
          </a:p>
          <a:p>
            <a:pPr lvl="1"/>
            <a:r>
              <a:rPr lang="en-IN" sz="2000" dirty="0"/>
              <a:t>Detects citation gaps and underexplored research areas. </a:t>
            </a:r>
          </a:p>
          <a:p>
            <a:pPr lvl="1"/>
            <a:r>
              <a:rPr lang="en-IN" sz="2000" dirty="0"/>
              <a:t>Forecasts emerging topics using publication and citation trends. </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166377-D7D0-63C8-7B9B-A8C89628CCCA}"/>
              </a:ext>
            </a:extLst>
          </p:cNvPr>
          <p:cNvSpPr txBox="1"/>
          <p:nvPr/>
        </p:nvSpPr>
        <p:spPr>
          <a:xfrm>
            <a:off x="775354" y="740469"/>
            <a:ext cx="10517957" cy="5324535"/>
          </a:xfrm>
          <a:prstGeom prst="rect">
            <a:avLst/>
          </a:prstGeom>
          <a:noFill/>
        </p:spPr>
        <p:txBody>
          <a:bodyPr wrap="square">
            <a:spAutoFit/>
          </a:bodyPr>
          <a:lstStyle/>
          <a:p>
            <a:r>
              <a:rPr lang="en-IN" sz="2000" b="1" dirty="0"/>
              <a:t>IBM Technology Stack</a:t>
            </a:r>
            <a:endParaRPr lang="en-IN" sz="2000" dirty="0"/>
          </a:p>
          <a:p>
            <a:r>
              <a:rPr lang="en-IN" sz="2000" dirty="0"/>
              <a:t>IBM Orchestrate – Agent coordination </a:t>
            </a:r>
          </a:p>
          <a:p>
            <a:r>
              <a:rPr lang="en-IN" sz="2000" dirty="0"/>
              <a:t>IBM </a:t>
            </a:r>
            <a:r>
              <a:rPr lang="en-IN" sz="2000" dirty="0" err="1"/>
              <a:t>Langflow</a:t>
            </a:r>
            <a:r>
              <a:rPr lang="en-IN" sz="2000" dirty="0"/>
              <a:t> – Workflow orchestration </a:t>
            </a:r>
          </a:p>
          <a:p>
            <a:r>
              <a:rPr lang="en-IN" sz="2000" dirty="0"/>
              <a:t>IBM Granite Models – Reasoning, summarization, embeddings, vision </a:t>
            </a:r>
          </a:p>
          <a:p>
            <a:r>
              <a:rPr lang="en-IN" sz="2000" dirty="0" err="1"/>
              <a:t>Neo4j</a:t>
            </a:r>
            <a:r>
              <a:rPr lang="en-IN" sz="2000" dirty="0"/>
              <a:t> + Milvus/Chroma – Knowledge graph and vector storage</a:t>
            </a:r>
          </a:p>
          <a:p>
            <a:pPr>
              <a:buNone/>
            </a:pPr>
            <a:r>
              <a:rPr lang="en-US" sz="2000" b="1" dirty="0"/>
              <a:t>Dashboard Capabilities</a:t>
            </a:r>
            <a:endParaRPr lang="en-US" sz="2000" dirty="0"/>
          </a:p>
          <a:p>
            <a:pPr>
              <a:buFont typeface="Arial" panose="020B0604020202020204" pitchFamily="34" charset="0"/>
              <a:buChar char="•"/>
            </a:pPr>
            <a:r>
              <a:rPr lang="en-US" sz="2000" dirty="0"/>
              <a:t>Topic clustering and knowledge graphs </a:t>
            </a:r>
          </a:p>
          <a:p>
            <a:pPr>
              <a:buFont typeface="Arial" panose="020B0604020202020204" pitchFamily="34" charset="0"/>
              <a:buChar char="•"/>
            </a:pPr>
            <a:r>
              <a:rPr lang="en-US" sz="2000" dirty="0"/>
              <a:t>Citation maps and influential paper discovery </a:t>
            </a:r>
          </a:p>
          <a:p>
            <a:pPr>
              <a:buFont typeface="Arial" panose="020B0604020202020204" pitchFamily="34" charset="0"/>
              <a:buChar char="•"/>
            </a:pPr>
            <a:r>
              <a:rPr lang="en-US" sz="2000" dirty="0"/>
              <a:t>Publication and keyword trend analysis </a:t>
            </a:r>
          </a:p>
          <a:p>
            <a:pPr>
              <a:buFont typeface="Arial" panose="020B0604020202020204" pitchFamily="34" charset="0"/>
              <a:buChar char="•"/>
            </a:pPr>
            <a:r>
              <a:rPr lang="en-US" sz="2000" dirty="0"/>
              <a:t>Suggested future research directions </a:t>
            </a:r>
          </a:p>
          <a:p>
            <a:pPr marL="285750" indent="-285750">
              <a:buFont typeface="Arial" panose="020B0604020202020204" pitchFamily="34" charset="0"/>
              <a:buChar char="•"/>
            </a:pPr>
            <a:r>
              <a:rPr lang="en-US" sz="2000" b="1" dirty="0"/>
              <a:t>Innovation</a:t>
            </a:r>
            <a:br>
              <a:rPr lang="en-US" sz="2000" dirty="0"/>
            </a:br>
            <a:r>
              <a:rPr lang="en-US" sz="2000" dirty="0"/>
              <a:t>Autonomous research cycle: </a:t>
            </a:r>
          </a:p>
          <a:p>
            <a:r>
              <a:rPr lang="en-US" sz="2000" i="1" dirty="0"/>
              <a:t>Search → Read → Analyze → Infer → Predict</a:t>
            </a:r>
            <a:endParaRPr lang="en-US" sz="2000" dirty="0"/>
          </a:p>
          <a:p>
            <a:pPr marL="285750" indent="-285750">
              <a:buFont typeface="Arial" panose="020B0604020202020204" pitchFamily="34" charset="0"/>
              <a:buChar char="•"/>
            </a:pPr>
            <a:r>
              <a:rPr lang="en-US" sz="2000" dirty="0"/>
              <a:t>Citation-gap recommendations resembling peer-review feedback</a:t>
            </a:r>
          </a:p>
          <a:p>
            <a:pPr marL="285750" indent="-285750">
              <a:buFont typeface="Arial" panose="020B0604020202020204" pitchFamily="34" charset="0"/>
              <a:buChar char="•"/>
            </a:pPr>
            <a:r>
              <a:rPr lang="en-US" sz="2000" dirty="0"/>
              <a:t>Continuous knowledge graph updates for an always-current research assistant</a:t>
            </a:r>
          </a:p>
          <a:p>
            <a:pPr>
              <a:buNone/>
            </a:pPr>
            <a:r>
              <a:rPr lang="en-US" sz="2000" dirty="0"/>
              <a:t>This version is suitable for a hackathon or proposal presentation and should fit neatly into two slides with minimal formatting adjustments.</a:t>
            </a:r>
          </a:p>
        </p:txBody>
      </p:sp>
    </p:spTree>
    <p:extLst>
      <p:ext uri="{BB962C8B-B14F-4D97-AF65-F5344CB8AC3E}">
        <p14:creationId xmlns:p14="http://schemas.microsoft.com/office/powerpoint/2010/main" val="3489680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324535"/>
          </a:xfrm>
          <a:prstGeom prst="rect">
            <a:avLst/>
          </a:prstGeom>
          <a:noFill/>
        </p:spPr>
        <p:txBody>
          <a:bodyPr wrap="square" rtlCol="0">
            <a:spAutoFit/>
          </a:bodyPr>
          <a:lstStyle/>
          <a:p>
            <a:r>
              <a:rPr lang="en-IN" sz="2000" dirty="0"/>
              <a:t> </a:t>
            </a:r>
          </a:p>
          <a:p>
            <a:pPr marL="285750" lvl="0" indent="-285750">
              <a:buFont typeface="Arial" panose="020B0604020202020204" pitchFamily="34" charset="0"/>
              <a:buChar char="•"/>
            </a:pPr>
            <a:r>
              <a:rPr lang="en-IN" sz="2000" b="1" dirty="0"/>
              <a:t>IBM Granite Model (</a:t>
            </a:r>
            <a:r>
              <a:rPr lang="en-IN" sz="2000" b="1" dirty="0" err="1"/>
              <a:t>ibm</a:t>
            </a:r>
            <a:r>
              <a:rPr lang="en-IN" sz="2000" b="1" dirty="0"/>
              <a:t>-granite-3-2-</a:t>
            </a:r>
            <a:r>
              <a:rPr lang="en-IN" sz="2000" b="1" dirty="0" err="1"/>
              <a:t>8b</a:t>
            </a:r>
            <a:r>
              <a:rPr lang="en-IN" sz="2000" b="1" dirty="0"/>
              <a:t>)</a:t>
            </a:r>
            <a:r>
              <a:rPr lang="en-IN" sz="2000" dirty="0"/>
              <a:t> – For natural language understanding, reasoning, literature synthesis, research gap identification, and personalized recommendations. </a:t>
            </a:r>
          </a:p>
          <a:p>
            <a:pPr marL="285750" lvl="0" indent="-285750">
              <a:buFont typeface="Arial" panose="020B0604020202020204" pitchFamily="34" charset="0"/>
              <a:buChar char="•"/>
            </a:pPr>
            <a:r>
              <a:rPr lang="en-IN" sz="2000" b="1" dirty="0"/>
              <a:t>IBM Cloud</a:t>
            </a:r>
            <a:r>
              <a:rPr lang="en-IN" sz="2000" dirty="0"/>
              <a:t> – Provides the infrastructure to build, deploy, and scale the Research Agent efficiently, ensuring a reliable, secure, and scalable environment. </a:t>
            </a:r>
          </a:p>
          <a:p>
            <a:pPr marL="285750" lvl="0" indent="-285750">
              <a:buFont typeface="Arial" panose="020B0604020202020204" pitchFamily="34" charset="0"/>
              <a:buChar char="•"/>
            </a:pPr>
            <a:r>
              <a:rPr lang="en-IN" sz="2000" b="1" dirty="0"/>
              <a:t>Lightweight RAG System</a:t>
            </a:r>
            <a:r>
              <a:rPr lang="en-IN" sz="2000" dirty="0"/>
              <a:t> – Retrieves relevant publications, papers, and knowledge-base entries before generating responses, making the Research Agent more accurate, explainable, and trustworthy. </a:t>
            </a:r>
          </a:p>
          <a:p>
            <a:pPr marL="285750" lvl="0" indent="-285750">
              <a:buFont typeface="Arial" panose="020B0604020202020204" pitchFamily="34" charset="0"/>
              <a:buChar char="•"/>
            </a:pPr>
            <a:r>
              <a:rPr lang="en-IN" sz="2000" b="1" dirty="0"/>
              <a:t>IBM </a:t>
            </a:r>
            <a:r>
              <a:rPr lang="en-IN" sz="2000" b="1" dirty="0" err="1"/>
              <a:t>Watsonx.ai</a:t>
            </a:r>
            <a:r>
              <a:rPr lang="en-IN" sz="2000" dirty="0"/>
              <a:t> – For model deployment, embedding generation, agent orchestration support, and AI governance. </a:t>
            </a:r>
          </a:p>
          <a:p>
            <a:pPr marL="285750" lvl="0" indent="-285750">
              <a:buFont typeface="Arial" panose="020B0604020202020204" pitchFamily="34" charset="0"/>
              <a:buChar char="•"/>
            </a:pPr>
            <a:r>
              <a:rPr lang="en-IN" sz="2000" b="1" dirty="0"/>
              <a:t>Python</a:t>
            </a:r>
            <a:r>
              <a:rPr lang="en-IN" sz="2000" dirty="0"/>
              <a:t> – Serves as the core development language, offering rich ecosystems for machine learning, data processing, visualization, and integration with IBM technologies. </a:t>
            </a:r>
          </a:p>
          <a:p>
            <a:pPr marL="285750" lvl="0" indent="-285750">
              <a:buFont typeface="Arial" panose="020B0604020202020204" pitchFamily="34" charset="0"/>
              <a:buChar char="•"/>
            </a:pPr>
            <a:r>
              <a:rPr lang="en-IN" sz="2000" b="1" dirty="0"/>
              <a:t>Flask</a:t>
            </a:r>
            <a:r>
              <a:rPr lang="en-IN" sz="2000" dirty="0"/>
              <a:t> – Used to develop backend APIs and services that connect the user interface with AI models, vector databases, and knowledge graph components, enabling efficient request handling and scalable deployment.</a:t>
            </a:r>
            <a:endParaRPr lang="en-US" sz="2000" dirty="0"/>
          </a:p>
          <a:p>
            <a:endParaRPr lang="en-IN" sz="2000" dirty="0"/>
          </a:p>
        </p:txBody>
      </p:sp>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Bob</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98EBF969-2B8A-867E-F5B4-58DAA74E01E6}"/>
              </a:ext>
            </a:extLst>
          </p:cNvPr>
          <p:cNvPicPr>
            <a:picLocks noChangeAspect="1"/>
          </p:cNvPicPr>
          <p:nvPr/>
        </p:nvPicPr>
        <p:blipFill>
          <a:blip r:embed="rId3"/>
          <a:stretch>
            <a:fillRect/>
          </a:stretch>
        </p:blipFill>
        <p:spPr>
          <a:xfrm>
            <a:off x="6096000" y="1624338"/>
            <a:ext cx="5773442" cy="3756010"/>
          </a:xfrm>
          <a:prstGeom prst="rect">
            <a:avLst/>
          </a:prstGeom>
        </p:spPr>
      </p:pic>
      <p:pic>
        <p:nvPicPr>
          <p:cNvPr id="6" name="Picture 5">
            <a:extLst>
              <a:ext uri="{FF2B5EF4-FFF2-40B4-BE49-F238E27FC236}">
                <a16:creationId xmlns:a16="http://schemas.microsoft.com/office/drawing/2014/main" id="{E2AB2EEE-2058-5325-C7A0-02237A4728E5}"/>
              </a:ext>
            </a:extLst>
          </p:cNvPr>
          <p:cNvPicPr>
            <a:picLocks noChangeAspect="1"/>
          </p:cNvPicPr>
          <p:nvPr/>
        </p:nvPicPr>
        <p:blipFill>
          <a:blip r:embed="rId4"/>
          <a:stretch>
            <a:fillRect/>
          </a:stretch>
        </p:blipFill>
        <p:spPr>
          <a:xfrm>
            <a:off x="399521" y="1624338"/>
            <a:ext cx="5536224" cy="378014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9" name="Picture 8">
            <a:extLst>
              <a:ext uri="{FF2B5EF4-FFF2-40B4-BE49-F238E27FC236}">
                <a16:creationId xmlns:a16="http://schemas.microsoft.com/office/drawing/2014/main" id="{0CD0E08F-97B7-408E-15FF-3A826D29D367}"/>
              </a:ext>
            </a:extLst>
          </p:cNvPr>
          <p:cNvPicPr>
            <a:picLocks noChangeAspect="1"/>
          </p:cNvPicPr>
          <p:nvPr/>
        </p:nvPicPr>
        <p:blipFill>
          <a:blip r:embed="rId3"/>
          <a:srcRect t="412" b="34512"/>
          <a:stretch>
            <a:fillRect/>
          </a:stretch>
        </p:blipFill>
        <p:spPr>
          <a:xfrm>
            <a:off x="3725158" y="137666"/>
            <a:ext cx="8162042" cy="65826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461665"/>
          </a:xfrm>
          <a:prstGeom prst="rect">
            <a:avLst/>
          </a:prstGeom>
          <a:noFill/>
        </p:spPr>
        <p:txBody>
          <a:bodyPr wrap="square" rtlCol="0">
            <a:spAutoFit/>
          </a:bodyPr>
          <a:lstStyle/>
          <a:p>
            <a:r>
              <a:rPr lang="en-US" sz="2400" b="1" dirty="0"/>
              <a:t>Role of Agentic AI in the solution </a:t>
            </a:r>
            <a:endParaRPr lang="en-IN" sz="24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62466" y="1065229"/>
            <a:ext cx="5263299" cy="4370427"/>
          </a:xfrm>
          <a:prstGeom prst="rect">
            <a:avLst/>
          </a:prstGeom>
          <a:noFill/>
        </p:spPr>
        <p:txBody>
          <a:bodyPr wrap="square" rtlCol="0">
            <a:spAutoFit/>
          </a:bodyPr>
          <a:lstStyle/>
          <a:p>
            <a:endParaRPr lang="en-US" sz="1800" b="1" dirty="0"/>
          </a:p>
          <a:p>
            <a:r>
              <a:rPr lang="en-US" sz="1800" b="1" dirty="0"/>
              <a:t>Role of Agentic AI in Research Agent</a:t>
            </a:r>
          </a:p>
          <a:p>
            <a:endParaRPr lang="en-US" sz="1800" b="1" dirty="0"/>
          </a:p>
          <a:p>
            <a:r>
              <a:rPr lang="en-US" sz="1600" dirty="0"/>
              <a:t>Agentic AI serves as the core intelligence and decision-making layer of </a:t>
            </a:r>
            <a:r>
              <a:rPr lang="en-US" sz="1600" dirty="0" err="1"/>
              <a:t>ResearchMind</a:t>
            </a:r>
            <a:r>
              <a:rPr lang="en-US" sz="1600" dirty="0"/>
              <a:t> AI, enabling the system to autonomously perform complex research activities with minimal user intervention. It interprets user queries, decomposes them into subtasks, and dynamically orchestrates specialized agents for literature mining, multimodal document processing, knowledge synthesis, trend analysis, and visualization. </a:t>
            </a:r>
          </a:p>
          <a:p>
            <a:r>
              <a:rPr lang="en-US" sz="1600" dirty="0"/>
              <a:t>The agent continuously searches scholarly repositories, filters relevant publications, and integrates information from PDFs, notes, charts, and images to generate comprehensive insights. It further analyzes citation networks to identify missing references, detect research gaps, and suggest unexplored opportunities. </a:t>
            </a:r>
          </a:p>
        </p:txBody>
      </p:sp>
      <p:pic>
        <p:nvPicPr>
          <p:cNvPr id="5" name="Picture 4">
            <a:extLst>
              <a:ext uri="{FF2B5EF4-FFF2-40B4-BE49-F238E27FC236}">
                <a16:creationId xmlns:a16="http://schemas.microsoft.com/office/drawing/2014/main" id="{23905DA6-C78F-80EC-51D4-CCEC8D331045}"/>
              </a:ext>
            </a:extLst>
          </p:cNvPr>
          <p:cNvPicPr>
            <a:picLocks noChangeAspect="1"/>
          </p:cNvPicPr>
          <p:nvPr/>
        </p:nvPicPr>
        <p:blipFill>
          <a:blip r:embed="rId3"/>
          <a:stretch>
            <a:fillRect/>
          </a:stretch>
        </p:blipFill>
        <p:spPr>
          <a:xfrm>
            <a:off x="6174556" y="1065229"/>
            <a:ext cx="5328979" cy="2965289"/>
          </a:xfrm>
          <a:prstGeom prst="rect">
            <a:avLst/>
          </a:prstGeom>
        </p:spPr>
      </p:pic>
      <p:sp>
        <p:nvSpPr>
          <p:cNvPr id="6" name="TextBox 5">
            <a:extLst>
              <a:ext uri="{FF2B5EF4-FFF2-40B4-BE49-F238E27FC236}">
                <a16:creationId xmlns:a16="http://schemas.microsoft.com/office/drawing/2014/main" id="{8672D856-3804-0769-8EA3-F2A19C4CAA11}"/>
              </a:ext>
            </a:extLst>
          </p:cNvPr>
          <p:cNvSpPr txBox="1"/>
          <p:nvPr/>
        </p:nvSpPr>
        <p:spPr>
          <a:xfrm>
            <a:off x="6096000" y="4227508"/>
            <a:ext cx="5831742" cy="2308324"/>
          </a:xfrm>
          <a:prstGeom prst="rect">
            <a:avLst/>
          </a:prstGeom>
          <a:noFill/>
        </p:spPr>
        <p:txBody>
          <a:bodyPr wrap="square" rtlCol="0">
            <a:spAutoFit/>
          </a:bodyPr>
          <a:lstStyle/>
          <a:p>
            <a:r>
              <a:rPr lang="en-US" sz="1600" dirty="0"/>
              <a:t>By monitoring publication growth, citation patterns, and emerging keywords, Agentic AI predicts promising future research directions and recommends potential hypotheses.</a:t>
            </a:r>
          </a:p>
          <a:p>
            <a:r>
              <a:rPr lang="en-US" sz="1600" dirty="0"/>
              <a:t>Through continuous learning and adaptation to newly published work and user feedback, </a:t>
            </a:r>
            <a:r>
              <a:rPr lang="en-US" sz="1600" dirty="0" err="1"/>
              <a:t>ResearchMind</a:t>
            </a:r>
            <a:r>
              <a:rPr lang="en-US" sz="1600" dirty="0"/>
              <a:t> AI transforms from a passive search and </a:t>
            </a:r>
            <a:r>
              <a:rPr lang="en-US" sz="1600" dirty="0" err="1"/>
              <a:t>summarisation</a:t>
            </a:r>
            <a:r>
              <a:rPr lang="en-US" sz="1600" dirty="0"/>
              <a:t> tool into an intelligent, proactive research collaborator capable of discovering, </a:t>
            </a:r>
            <a:r>
              <a:rPr lang="en-US" sz="1600" dirty="0" err="1"/>
              <a:t>analysing</a:t>
            </a:r>
            <a:r>
              <a:rPr lang="en-US" sz="1600" dirty="0"/>
              <a:t>, predicting, and recommending actionable scientific insights.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58139BC-687C-7390-9389-02CA6F7C415C}"/>
              </a:ext>
            </a:extLst>
          </p:cNvPr>
          <p:cNvPicPr>
            <a:picLocks noChangeAspect="1"/>
          </p:cNvPicPr>
          <p:nvPr/>
        </p:nvPicPr>
        <p:blipFill>
          <a:blip r:embed="rId3"/>
          <a:stretch>
            <a:fillRect/>
          </a:stretch>
        </p:blipFill>
        <p:spPr>
          <a:xfrm>
            <a:off x="2245820" y="1044263"/>
            <a:ext cx="7700359" cy="5259325"/>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408210"/>
            <a:ext cx="10186133" cy="5262979"/>
          </a:xfrm>
          <a:prstGeom prst="rect">
            <a:avLst/>
          </a:prstGeom>
          <a:noFill/>
        </p:spPr>
        <p:txBody>
          <a:bodyPr wrap="square" rtlCol="0">
            <a:spAutoFit/>
          </a:bodyPr>
          <a:lstStyle/>
          <a:p>
            <a:pPr marL="285750" indent="-285750">
              <a:buFont typeface="Arial" panose="020B0604020202020204" pitchFamily="34" charset="0"/>
              <a:buChar char="•"/>
            </a:pPr>
            <a:r>
              <a:rPr lang="en-IN" sz="1600" b="1" dirty="0"/>
              <a:t>Autonomous Research Companion</a:t>
            </a:r>
            <a:r>
              <a:rPr lang="en-IN" sz="1600" dirty="0"/>
              <a:t> – Goes beyond conventional search engines by independently planning, executing, and refining research workflows using Agentic AI.</a:t>
            </a:r>
          </a:p>
          <a:p>
            <a:pPr marL="285750" indent="-285750">
              <a:buFont typeface="Arial" panose="020B0604020202020204" pitchFamily="34" charset="0"/>
              <a:buChar char="•"/>
            </a:pPr>
            <a:r>
              <a:rPr lang="en-IN" sz="1600" b="1" dirty="0"/>
              <a:t>Multimodal Knowledge Understanding</a:t>
            </a:r>
            <a:r>
              <a:rPr lang="en-IN" sz="1600" dirty="0"/>
              <a:t> – Simultaneously processes research papers, PDFs, handwritten notes, charts, tables, and images to generate unified insights.</a:t>
            </a:r>
          </a:p>
          <a:p>
            <a:pPr marL="285750" indent="-285750">
              <a:buFont typeface="Arial" panose="020B0604020202020204" pitchFamily="34" charset="0"/>
              <a:buChar char="•"/>
            </a:pPr>
            <a:r>
              <a:rPr lang="en-IN" sz="1600" b="1" dirty="0"/>
              <a:t>Citation Gap Detection</a:t>
            </a:r>
            <a:r>
              <a:rPr lang="en-IN" sz="1600" dirty="0"/>
              <a:t> – Identifies potentially missing references and related works, functioning as an intelligent peer-review assistant.</a:t>
            </a:r>
          </a:p>
          <a:p>
            <a:pPr marL="285750" indent="-285750">
              <a:buFont typeface="Arial" panose="020B0604020202020204" pitchFamily="34" charset="0"/>
              <a:buChar char="•"/>
            </a:pPr>
            <a:r>
              <a:rPr lang="en-IN" sz="1600" b="1" dirty="0"/>
              <a:t>Predictive Research Intelligence</a:t>
            </a:r>
            <a:r>
              <a:rPr lang="en-IN" sz="1600" dirty="0"/>
              <a:t> – Forecasts emerging research trends and promising future directions by </a:t>
            </a:r>
            <a:r>
              <a:rPr lang="en-IN" sz="1600" dirty="0" err="1"/>
              <a:t>analyzing</a:t>
            </a:r>
            <a:r>
              <a:rPr lang="en-IN" sz="1600" dirty="0"/>
              <a:t> publication growth, citation velocity, and keyword evolution.</a:t>
            </a:r>
          </a:p>
          <a:p>
            <a:pPr marL="285750" indent="-285750">
              <a:buFont typeface="Arial" panose="020B0604020202020204" pitchFamily="34" charset="0"/>
              <a:buChar char="•"/>
            </a:pPr>
            <a:r>
              <a:rPr lang="en-IN" sz="1600" b="1" dirty="0"/>
              <a:t>Dynamic Knowledge Graph Generation</a:t>
            </a:r>
            <a:r>
              <a:rPr lang="en-IN" sz="1600" dirty="0"/>
              <a:t> – Automatically constructs and updates interactive knowledge graphs connecting authors, methods, datasets, institutions, and publications.</a:t>
            </a:r>
          </a:p>
          <a:p>
            <a:pPr marL="285750" indent="-285750">
              <a:buFont typeface="Arial" panose="020B0604020202020204" pitchFamily="34" charset="0"/>
              <a:buChar char="•"/>
            </a:pPr>
            <a:r>
              <a:rPr lang="en-IN" sz="1600" b="1" dirty="0"/>
              <a:t>Research Opportunity Discovery</a:t>
            </a:r>
            <a:r>
              <a:rPr lang="en-IN" sz="1600" dirty="0"/>
              <a:t> – Suggests underexplored topics, novel hypotheses, and interdisciplinary connections rather than merely summarizing existing literature.</a:t>
            </a:r>
          </a:p>
          <a:p>
            <a:pPr marL="285750" indent="-285750">
              <a:buFont typeface="Arial" panose="020B0604020202020204" pitchFamily="34" charset="0"/>
              <a:buChar char="•"/>
            </a:pPr>
            <a:r>
              <a:rPr lang="en-IN" sz="1600" b="1" dirty="0"/>
              <a:t>Explainable AI-Driven Insights</a:t>
            </a:r>
            <a:r>
              <a:rPr lang="en-IN" sz="1600" dirty="0"/>
              <a:t> – Provides transparent recommendations supported by citation networks, trend analyses, and evidence from retrieved publications.</a:t>
            </a:r>
          </a:p>
          <a:p>
            <a:pPr marL="285750" indent="-285750">
              <a:buFont typeface="Arial" panose="020B0604020202020204" pitchFamily="34" charset="0"/>
              <a:buChar char="•"/>
            </a:pPr>
            <a:r>
              <a:rPr lang="en-IN" sz="1600" b="1" dirty="0"/>
              <a:t>Continuous Learning Framework</a:t>
            </a:r>
            <a:r>
              <a:rPr lang="en-IN" sz="1600" dirty="0"/>
              <a:t> – Incorporates newly published papers and user feedback to maintain an up-to-date and evolving research ecosystem.</a:t>
            </a:r>
          </a:p>
          <a:p>
            <a:pPr marL="285750" indent="-285750">
              <a:buFont typeface="Arial" panose="020B0604020202020204" pitchFamily="34" charset="0"/>
              <a:buChar char="•"/>
            </a:pPr>
            <a:r>
              <a:rPr lang="en-IN" sz="1600" b="1" dirty="0"/>
              <a:t>IBM-Powered Agentic Architecture</a:t>
            </a:r>
            <a:r>
              <a:rPr lang="en-IN" sz="1600" dirty="0"/>
              <a:t> – Leverages IBM </a:t>
            </a:r>
            <a:r>
              <a:rPr lang="en-IN" sz="1600" dirty="0" err="1"/>
              <a:t>Langflow</a:t>
            </a:r>
            <a:r>
              <a:rPr lang="en-IN" sz="1600" dirty="0"/>
              <a:t>, IBM Orchestrate, IBM Granite models, and </a:t>
            </a:r>
            <a:r>
              <a:rPr lang="en-IN" sz="1600" dirty="0" err="1"/>
              <a:t>Watsonx.ai</a:t>
            </a:r>
            <a:r>
              <a:rPr lang="en-IN" sz="1600" dirty="0"/>
              <a:t> to deliver a scalable, secure, and enterprise-ready research assistant.</a:t>
            </a:r>
          </a:p>
          <a:p>
            <a:pPr marL="285750" indent="-285750">
              <a:buFont typeface="Arial" panose="020B0604020202020204" pitchFamily="34" charset="0"/>
              <a:buChar char="•"/>
            </a:pPr>
            <a:r>
              <a:rPr lang="en-IN" sz="1600" b="1" dirty="0"/>
              <a:t>End-to-End Research Automation</a:t>
            </a:r>
            <a:r>
              <a:rPr lang="en-IN" sz="1600" dirty="0"/>
              <a:t> – Enables a complete research cycle: Search → Read → </a:t>
            </a:r>
            <a:r>
              <a:rPr lang="en-IN" sz="1600" dirty="0" err="1"/>
              <a:t>Analyze</a:t>
            </a:r>
            <a:r>
              <a:rPr lang="en-IN" sz="1600" dirty="0"/>
              <a:t> → Infer → Predict → Visualize, significantly reducing literature review effort and accelerating scientific discovery.</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24746"/>
            <a:ext cx="9214580" cy="4277001"/>
          </a:xfrm>
          <a:prstGeom prst="rect">
            <a:avLst/>
          </a:prstGeom>
          <a:noFill/>
          <a:ln>
            <a:noFill/>
          </a:ln>
        </p:spPr>
        <p:txBody>
          <a:bodyPr spcFirstLastPara="1" wrap="square" lIns="0" tIns="0" rIns="0" bIns="0" anchor="ctr" anchorCtr="0">
            <a:noAutofit/>
          </a:bodyPr>
          <a:lstStyle/>
          <a:p>
            <a:pPr lvl="0" algn="ctr">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3"/>
              </a:rPr>
              <a:t>https://</a:t>
            </a:r>
            <a:r>
              <a:rPr lang="en-US" sz="1850" dirty="0" err="1">
                <a:solidFill>
                  <a:srgbClr val="2B3541"/>
                </a:solidFill>
                <a:latin typeface="Times New Roman"/>
                <a:ea typeface="Times New Roman"/>
                <a:cs typeface="Times New Roman"/>
                <a:sym typeface="Times New Roman"/>
                <a:hlinkClick r:id="rId3"/>
              </a:rPr>
              <a:t>github.com</a:t>
            </a:r>
            <a:r>
              <a:rPr lang="en-US" sz="1850" dirty="0">
                <a:solidFill>
                  <a:srgbClr val="2B3541"/>
                </a:solidFill>
                <a:latin typeface="Times New Roman"/>
                <a:ea typeface="Times New Roman"/>
                <a:cs typeface="Times New Roman"/>
                <a:sym typeface="Times New Roman"/>
                <a:hlinkClick r:id="rId3"/>
              </a:rPr>
              <a:t>/</a:t>
            </a:r>
            <a:r>
              <a:rPr lang="en-US" sz="1850" dirty="0" err="1">
                <a:solidFill>
                  <a:srgbClr val="2B3541"/>
                </a:solidFill>
                <a:latin typeface="Times New Roman"/>
                <a:ea typeface="Times New Roman"/>
                <a:cs typeface="Times New Roman"/>
                <a:sym typeface="Times New Roman"/>
                <a:hlinkClick r:id="rId3"/>
              </a:rPr>
              <a:t>rdutta-ui</a:t>
            </a:r>
            <a:r>
              <a:rPr lang="en-US" sz="1850" dirty="0">
                <a:solidFill>
                  <a:srgbClr val="2B3541"/>
                </a:solidFill>
                <a:latin typeface="Times New Roman"/>
                <a:ea typeface="Times New Roman"/>
                <a:cs typeface="Times New Roman"/>
                <a:sym typeface="Times New Roman"/>
                <a:hlinkClick r:id="rId3"/>
              </a:rPr>
              <a:t>/Research-Agent-</a:t>
            </a:r>
            <a:r>
              <a:rPr lang="en-US" sz="1850" dirty="0" err="1">
                <a:solidFill>
                  <a:srgbClr val="2B3541"/>
                </a:solidFill>
                <a:latin typeface="Times New Roman"/>
                <a:ea typeface="Times New Roman"/>
                <a:cs typeface="Times New Roman"/>
                <a:sym typeface="Times New Roman"/>
                <a:hlinkClick r:id="rId3"/>
              </a:rPr>
              <a:t>Project.git</a:t>
            </a:r>
            <a:r>
              <a:rPr lang="en-US" sz="1850"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393947"/>
            <a:ext cx="9214580" cy="4104769"/>
          </a:xfrm>
          <a:prstGeom prst="rect">
            <a:avLst/>
          </a:prstGeom>
          <a:noFill/>
          <a:ln>
            <a:noFill/>
          </a:ln>
        </p:spPr>
        <p:txBody>
          <a:bodyPr spcFirstLastPara="1" wrap="square" lIns="0" tIns="0" rIns="0" bIns="0" anchor="t" anchorCtr="0">
            <a:noAutofit/>
          </a:bodyPr>
          <a:lstStyle/>
          <a:p>
            <a:pPr marL="285750" lvl="0" indent="-285750">
              <a:buFont typeface="Arial" panose="020B0604020202020204" pitchFamily="34" charset="0"/>
              <a:buChar char="•"/>
            </a:pPr>
            <a:r>
              <a:rPr lang="en-IN" sz="1800" b="1" dirty="0"/>
              <a:t>Automated Manuscript and Grant Proposal Generation</a:t>
            </a:r>
            <a:br>
              <a:rPr lang="en-IN" sz="1800" dirty="0"/>
            </a:br>
            <a:r>
              <a:rPr lang="en-IN" sz="1800" dirty="0"/>
              <a:t>Enable </a:t>
            </a:r>
            <a:r>
              <a:rPr lang="en-IN" sz="1800" dirty="0" err="1"/>
              <a:t>ResearchMind</a:t>
            </a:r>
            <a:r>
              <a:rPr lang="en-IN" sz="1800" dirty="0"/>
              <a:t> AI to draft research papers, survey articles, and grant proposals by leveraging synthesized literature, identified research gaps, and user-provided experimental results. </a:t>
            </a:r>
          </a:p>
          <a:p>
            <a:pPr marL="285750" lvl="0" indent="-285750">
              <a:buFont typeface="Arial" panose="020B0604020202020204" pitchFamily="34" charset="0"/>
              <a:buChar char="•"/>
            </a:pPr>
            <a:r>
              <a:rPr lang="en-IN" sz="1800" b="1" dirty="0"/>
              <a:t>Collaborative Research Ecosystem</a:t>
            </a:r>
            <a:br>
              <a:rPr lang="en-IN" sz="1800" dirty="0"/>
            </a:br>
            <a:r>
              <a:rPr lang="en-IN" sz="1800" dirty="0"/>
              <a:t>Introduce multi-user workspaces where researchers can share literature collections, annotate papers, track project progress, and receive AI-driven collaboration recommendations based on complementary expertise. </a:t>
            </a:r>
          </a:p>
          <a:p>
            <a:pPr marL="285750" lvl="0" indent="-285750">
              <a:buFont typeface="Arial" panose="020B0604020202020204" pitchFamily="34" charset="0"/>
              <a:buChar char="•"/>
            </a:pPr>
            <a:r>
              <a:rPr lang="en-IN" sz="1800" b="1" dirty="0"/>
              <a:t>Experimental Design and Hypothesis Validation</a:t>
            </a:r>
            <a:br>
              <a:rPr lang="en-IN" sz="1800" dirty="0"/>
            </a:br>
            <a:r>
              <a:rPr lang="en-IN" sz="1800" dirty="0"/>
              <a:t>Extend the agent to suggest experimental methodologies, recommend suitable datasets and evaluation metrics, and simulate potential outcomes to help researchers validate hypotheses before conducting costly experiments.</a:t>
            </a: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1708F6AB-16AD-6C5A-FCFE-53F86F2F9C82}"/>
              </a:ext>
            </a:extLst>
          </p:cNvPr>
          <p:cNvPicPr>
            <a:picLocks noChangeAspect="1"/>
          </p:cNvPicPr>
          <p:nvPr/>
        </p:nvPicPr>
        <p:blipFill>
          <a:blip r:embed="rId2"/>
          <a:stretch>
            <a:fillRect/>
          </a:stretch>
        </p:blipFill>
        <p:spPr>
          <a:xfrm>
            <a:off x="2252998" y="685557"/>
            <a:ext cx="7686004" cy="596506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F63C12CB-5FFE-6B7B-99F6-151F4C9F8092}"/>
              </a:ext>
            </a:extLst>
          </p:cNvPr>
          <p:cNvPicPr>
            <a:picLocks noChangeAspect="1"/>
          </p:cNvPicPr>
          <p:nvPr/>
        </p:nvPicPr>
        <p:blipFill>
          <a:blip r:embed="rId2"/>
          <a:stretch>
            <a:fillRect/>
          </a:stretch>
        </p:blipFill>
        <p:spPr>
          <a:xfrm>
            <a:off x="1821813" y="1007195"/>
            <a:ext cx="8548373" cy="527616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1212</Words>
  <Application>Microsoft Office PowerPoint</Application>
  <PresentationFormat>Widescreen</PresentationFormat>
  <Paragraphs>96</Paragraphs>
  <Slides>17</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Rishav Dutta</cp:lastModifiedBy>
  <cp:revision>6</cp:revision>
  <dcterms:created xsi:type="dcterms:W3CDTF">2025-07-08T05:06:56Z</dcterms:created>
  <dcterms:modified xsi:type="dcterms:W3CDTF">2026-06-24T11:52:20Z</dcterms:modified>
</cp:coreProperties>
</file>