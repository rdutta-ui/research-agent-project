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ebp" ContentType="image/webp"/>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83" r:id="rId2"/>
    <p:sldId id="257" r:id="rId3"/>
    <p:sldId id="282" r:id="rId4"/>
    <p:sldId id="291" r:id="rId5"/>
    <p:sldId id="285" r:id="rId6"/>
    <p:sldId id="290" r:id="rId7"/>
    <p:sldId id="278" r:id="rId8"/>
    <p:sldId id="279" r:id="rId9"/>
    <p:sldId id="262" r:id="rId10"/>
    <p:sldId id="292" r:id="rId11"/>
    <p:sldId id="293" r:id="rId12"/>
    <p:sldId id="264" r:id="rId13"/>
    <p:sldId id="277" r:id="rId14"/>
    <p:sldId id="286" r:id="rId15"/>
    <p:sldId id="287" r:id="rId16"/>
    <p:sldId id="280" r:id="rId17"/>
    <p:sldId id="288" r:id="rId18"/>
    <p:sldId id="289" r:id="rId19"/>
    <p:sldId id="276"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1" d="100"/>
          <a:sy n="81" d="100"/>
        </p:scale>
        <p:origin x="725"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ishti" userId="1562d6fa-893e-4949-8e31-e1be6aac81db" providerId="ADAL" clId="{6D4A2697-E1D7-4D9D-AFF0-FB5F1305AA28}"/>
    <pc:docChg chg="custSel delSld modSld">
      <pc:chgData name="Drishti" userId="1562d6fa-893e-4949-8e31-e1be6aac81db" providerId="ADAL" clId="{6D4A2697-E1D7-4D9D-AFF0-FB5F1305AA28}" dt="2026-06-24T06:31:21.263" v="8" actId="20577"/>
      <pc:docMkLst>
        <pc:docMk/>
      </pc:docMkLst>
      <pc:sldChg chg="delSp modSp mod">
        <pc:chgData name="Drishti" userId="1562d6fa-893e-4949-8e31-e1be6aac81db" providerId="ADAL" clId="{6D4A2697-E1D7-4D9D-AFF0-FB5F1305AA28}" dt="2026-06-24T06:31:21.263" v="8" actId="20577"/>
        <pc:sldMkLst>
          <pc:docMk/>
          <pc:sldMk cId="2772501912" sldId="279"/>
        </pc:sldMkLst>
        <pc:spChg chg="mod">
          <ac:chgData name="Drishti" userId="1562d6fa-893e-4949-8e31-e1be6aac81db" providerId="ADAL" clId="{6D4A2697-E1D7-4D9D-AFF0-FB5F1305AA28}" dt="2026-06-24T06:31:21.263" v="8" actId="20577"/>
          <ac:spMkLst>
            <pc:docMk/>
            <pc:sldMk cId="2772501912" sldId="279"/>
            <ac:spMk id="2" creationId="{B64CF172-D2AF-03D8-F919-AA7827A0D969}"/>
          </ac:spMkLst>
        </pc:spChg>
        <pc:picChg chg="del">
          <ac:chgData name="Drishti" userId="1562d6fa-893e-4949-8e31-e1be6aac81db" providerId="ADAL" clId="{6D4A2697-E1D7-4D9D-AFF0-FB5F1305AA28}" dt="2026-06-24T06:31:14.832" v="1" actId="478"/>
          <ac:picMkLst>
            <pc:docMk/>
            <pc:sldMk cId="2772501912" sldId="279"/>
            <ac:picMk id="4" creationId="{C597681A-DF93-B190-DD21-CBAEDA4E3CBF}"/>
          </ac:picMkLst>
        </pc:picChg>
      </pc:sldChg>
      <pc:sldChg chg="del">
        <pc:chgData name="Drishti" userId="1562d6fa-893e-4949-8e31-e1be6aac81db" providerId="ADAL" clId="{6D4A2697-E1D7-4D9D-AFF0-FB5F1305AA28}" dt="2026-06-24T06:31:11.660" v="0" actId="2696"/>
        <pc:sldMkLst>
          <pc:docMk/>
          <pc:sldMk cId="328526394" sldId="28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rdutta@iujaipur.edu.in"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7.webp"/><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rdutta-ui/Research-Agent-Project.git"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542710713"/>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2000" u="none" strike="noStrike" cap="none" dirty="0">
                          <a:latin typeface="Times New Roman" panose="02020603050405020304" pitchFamily="18" charset="0"/>
                          <a:cs typeface="Times New Roman" panose="02020603050405020304" pitchFamily="18" charset="0"/>
                        </a:rPr>
                        <a:t>Student Name</a:t>
                      </a:r>
                      <a:endParaRPr sz="2000" u="none" strike="noStrike" cap="none" dirty="0">
                        <a:latin typeface="Times New Roman" panose="02020603050405020304" pitchFamily="18" charset="0"/>
                        <a:cs typeface="Times New Roman" panose="02020603050405020304" pitchFamily="18" charset="0"/>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2000" u="none" strike="noStrike" cap="none" dirty="0">
                          <a:latin typeface="Times New Roman" panose="02020603050405020304" pitchFamily="18" charset="0"/>
                          <a:cs typeface="Times New Roman" panose="02020603050405020304" pitchFamily="18" charset="0"/>
                        </a:rPr>
                        <a:t>Recent Passport Photo</a:t>
                      </a:r>
                      <a:endParaRPr sz="2000" u="none" strike="noStrike" cap="none" dirty="0">
                        <a:latin typeface="Times New Roman" panose="02020603050405020304" pitchFamily="18" charset="0"/>
                        <a:cs typeface="Times New Roman" panose="02020603050405020304" pitchFamily="18" charset="0"/>
                      </a:endParaRPr>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2000" b="0" i="0" u="none" strike="noStrike" cap="none">
                          <a:solidFill>
                            <a:srgbClr val="000000"/>
                          </a:solidFill>
                          <a:latin typeface="Times New Roman" panose="02020603050405020304" pitchFamily="18" charset="0"/>
                          <a:ea typeface="Calibri"/>
                          <a:cs typeface="Times New Roman" panose="02020603050405020304" pitchFamily="18" charset="0"/>
                          <a:sym typeface="Calibri"/>
                        </a:rPr>
                        <a:t>Email ID </a:t>
                      </a:r>
                      <a:endParaRPr sz="2000" b="0" i="0" u="none" strike="noStrike" cap="none">
                        <a:solidFill>
                          <a:srgbClr val="000000"/>
                        </a:solidFill>
                        <a:latin typeface="Times New Roman" panose="02020603050405020304" pitchFamily="18" charset="0"/>
                        <a:cs typeface="Times New Roman" panose="02020603050405020304" pitchFamily="18" charset="0"/>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2000" b="0" i="0" u="none" strike="noStrike" cap="none">
                          <a:solidFill>
                            <a:srgbClr val="000000"/>
                          </a:solidFill>
                          <a:latin typeface="Times New Roman" panose="02020603050405020304" pitchFamily="18" charset="0"/>
                          <a:ea typeface="Calibri"/>
                          <a:cs typeface="Times New Roman" panose="02020603050405020304" pitchFamily="18" charset="0"/>
                          <a:sym typeface="Calibri"/>
                        </a:rPr>
                        <a:t>Mobile number</a:t>
                      </a:r>
                      <a:endParaRPr sz="2000" b="0" i="0" u="none" strike="noStrike" cap="none">
                        <a:solidFill>
                          <a:srgbClr val="000000"/>
                        </a:solidFill>
                        <a:latin typeface="Times New Roman" panose="02020603050405020304" pitchFamily="18" charset="0"/>
                        <a:cs typeface="Times New Roman" panose="02020603050405020304" pitchFamily="18" charset="0"/>
                        <a:sym typeface="Arial"/>
                      </a:endParaRPr>
                    </a:p>
                    <a:p>
                      <a:pPr marL="0" marR="0" lvl="0" indent="0" algn="ctr" rtl="0">
                        <a:lnSpc>
                          <a:spcPct val="100000"/>
                        </a:lnSpc>
                        <a:spcBef>
                          <a:spcPts val="0"/>
                        </a:spcBef>
                        <a:spcAft>
                          <a:spcPts val="0"/>
                        </a:spcAft>
                        <a:buClr>
                          <a:schemeClr val="lt1"/>
                        </a:buClr>
                        <a:buSzPts val="1800"/>
                        <a:buFont typeface="Calibri"/>
                        <a:buNone/>
                      </a:pPr>
                      <a:r>
                        <a:rPr lang="en-US" sz="2000" b="0" i="0" u="none" strike="noStrike" cap="none">
                          <a:solidFill>
                            <a:srgbClr val="000000"/>
                          </a:solidFill>
                          <a:latin typeface="Times New Roman" panose="02020603050405020304" pitchFamily="18" charset="0"/>
                          <a:ea typeface="Calibri"/>
                          <a:cs typeface="Times New Roman" panose="02020603050405020304" pitchFamily="18" charset="0"/>
                          <a:sym typeface="Calibri"/>
                        </a:rPr>
                        <a:t>[WhatsApp] </a:t>
                      </a:r>
                      <a:endParaRPr sz="2000" b="0" i="0" u="none" strike="noStrike" cap="none">
                        <a:solidFill>
                          <a:srgbClr val="000000"/>
                        </a:solidFill>
                        <a:latin typeface="Times New Roman" panose="02020603050405020304" pitchFamily="18" charset="0"/>
                        <a:cs typeface="Times New Roman" panose="02020603050405020304" pitchFamily="18" charset="0"/>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r>
                        <a:rPr lang="en-IN" sz="1600" dirty="0">
                          <a:latin typeface="Times New Roman" panose="02020603050405020304" pitchFamily="18" charset="0"/>
                          <a:cs typeface="Times New Roman" panose="02020603050405020304" pitchFamily="18" charset="0"/>
                        </a:rPr>
                        <a:t>Dr. Rishav Dutta</a:t>
                      </a:r>
                      <a:endParaRPr sz="1600" dirty="0">
                        <a:latin typeface="Times New Roman" panose="02020603050405020304" pitchFamily="18" charset="0"/>
                        <a:cs typeface="Times New Roman" panose="02020603050405020304" pitchFamily="18" charset="0"/>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endParaRPr sz="2000" dirty="0">
                        <a:latin typeface="Times New Roman" panose="02020603050405020304" pitchFamily="18" charset="0"/>
                        <a:cs typeface="Times New Roman" panose="02020603050405020304" pitchFamily="18" charset="0"/>
                      </a:endParaRPr>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IN" sz="1600" dirty="0" err="1">
                          <a:latin typeface="Times New Roman" panose="02020603050405020304" pitchFamily="18" charset="0"/>
                          <a:cs typeface="Times New Roman" panose="02020603050405020304" pitchFamily="18" charset="0"/>
                          <a:hlinkClick r:id="rId3"/>
                        </a:rPr>
                        <a:t>rdutta@iujaipur.edu.in</a:t>
                      </a:r>
                      <a:endParaRPr sz="1600" dirty="0">
                        <a:latin typeface="Times New Roman" panose="02020603050405020304" pitchFamily="18" charset="0"/>
                        <a:cs typeface="Times New Roman" panose="02020603050405020304" pitchFamily="18" charset="0"/>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IN" sz="1600" dirty="0">
                          <a:latin typeface="Times New Roman" panose="02020603050405020304" pitchFamily="18" charset="0"/>
                          <a:cs typeface="Times New Roman" panose="02020603050405020304" pitchFamily="18" charset="0"/>
                        </a:rPr>
                        <a:t>8617753998</a:t>
                      </a:r>
                      <a:endParaRPr sz="1600" dirty="0">
                        <a:latin typeface="Times New Roman" panose="02020603050405020304" pitchFamily="18" charset="0"/>
                        <a:cs typeface="Times New Roman" panose="02020603050405020304" pitchFamily="18" charset="0"/>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latin typeface="+mj-lt"/>
                <a:cs typeface="Times New Roman" panose="02020603050405020304" pitchFamily="18" charset="0"/>
              </a:rPr>
              <a:t>Research (Education)</a:t>
            </a:r>
            <a:endParaRPr lang="en-IN" sz="2400" b="1" dirty="0">
              <a:latin typeface="+mj-lt"/>
              <a:cs typeface="Times New Roman" panose="02020603050405020304" pitchFamily="18" charset="0"/>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IN" sz="2400" b="1" dirty="0">
                <a:latin typeface="+mj-lt"/>
                <a:cs typeface="Times New Roman" panose="02020603050405020304" pitchFamily="18" charset="0"/>
              </a:rPr>
              <a:t>Research Agent</a:t>
            </a:r>
          </a:p>
        </p:txBody>
      </p:sp>
      <p:pic>
        <p:nvPicPr>
          <p:cNvPr id="5" name="Picture 4">
            <a:extLst>
              <a:ext uri="{FF2B5EF4-FFF2-40B4-BE49-F238E27FC236}">
                <a16:creationId xmlns:a16="http://schemas.microsoft.com/office/drawing/2014/main" id="{A8C6D798-4684-4A24-9A9B-B045CBB6F757}"/>
              </a:ext>
            </a:extLst>
          </p:cNvPr>
          <p:cNvPicPr>
            <a:picLocks noChangeAspect="1"/>
          </p:cNvPicPr>
          <p:nvPr/>
        </p:nvPicPr>
        <p:blipFill>
          <a:blip r:embed="rId4"/>
          <a:stretch>
            <a:fillRect/>
          </a:stretch>
        </p:blipFill>
        <p:spPr>
          <a:xfrm>
            <a:off x="4146519" y="3676453"/>
            <a:ext cx="934528" cy="10909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401205"/>
          </a:xfrm>
          <a:prstGeom prst="rect">
            <a:avLst/>
          </a:prstGeom>
          <a:noFill/>
        </p:spPr>
        <p:txBody>
          <a:bodyPr wrap="square" rtlCol="0">
            <a:spAutoFit/>
          </a:bodyPr>
          <a:lstStyle/>
          <a:p>
            <a:pPr algn="just" fontAlgn="base"/>
            <a:r>
              <a:rPr lang="en-US" sz="2000" b="1" dirty="0">
                <a:latin typeface="Times New Roman" panose="02020603050405020304" pitchFamily="18" charset="0"/>
                <a:cs typeface="Times New Roman" panose="02020603050405020304" pitchFamily="18" charset="0"/>
              </a:rPr>
              <a:t>Problem Statement : Research Agent</a:t>
            </a:r>
            <a:r>
              <a:rPr lang="en-US" sz="2000" dirty="0">
                <a:latin typeface="Times New Roman" panose="02020603050405020304" pitchFamily="18" charset="0"/>
                <a:cs typeface="Times New Roman" panose="02020603050405020304" pitchFamily="18" charset="0"/>
              </a:rPr>
              <a:t> </a:t>
            </a:r>
          </a:p>
          <a:p>
            <a:pPr algn="just" fontAlgn="base"/>
            <a:endParaRPr lang="en-US" sz="2000" b="1" dirty="0">
              <a:latin typeface="Times New Roman" panose="02020603050405020304" pitchFamily="18" charset="0"/>
              <a:cs typeface="Times New Roman" panose="02020603050405020304" pitchFamily="18" charset="0"/>
            </a:endParaRPr>
          </a:p>
          <a:p>
            <a:pPr algn="just"/>
            <a:r>
              <a:rPr lang="en-IN" sz="2000" b="1" dirty="0">
                <a:latin typeface="Times New Roman" panose="02020603050405020304" pitchFamily="18" charset="0"/>
                <a:cs typeface="Times New Roman" panose="02020603050405020304" pitchFamily="18" charset="0"/>
              </a:rPr>
              <a:t>The Challenge</a:t>
            </a:r>
            <a:endParaRPr lang="en-IN" sz="2000" dirty="0">
              <a:latin typeface="Times New Roman" panose="02020603050405020304" pitchFamily="18" charset="0"/>
              <a:cs typeface="Times New Roman" panose="02020603050405020304" pitchFamily="18" charset="0"/>
            </a:endParaRPr>
          </a:p>
          <a:p>
            <a:pPr algn="just"/>
            <a:r>
              <a:rPr lang="en-IN" sz="2000" dirty="0">
                <a:latin typeface="Times New Roman" panose="02020603050405020304" pitchFamily="18" charset="0"/>
                <a:cs typeface="Times New Roman" panose="02020603050405020304" pitchFamily="18" charset="0"/>
              </a:rPr>
              <a:t>Researchers, students, and professionals often deal with scattered academic papers, technical articles, and experimental data spread across multiple platforms. Filtering relevant knowledge, summarizing insights, and keeping track of the latest developments is time-consuming and inefficient. The challenge is not just to collect references but to </a:t>
            </a:r>
            <a:r>
              <a:rPr lang="en-IN" sz="2000" b="1" dirty="0">
                <a:latin typeface="Times New Roman" panose="02020603050405020304" pitchFamily="18" charset="0"/>
                <a:cs typeface="Times New Roman" panose="02020603050405020304" pitchFamily="18" charset="0"/>
              </a:rPr>
              <a:t>synthesize, </a:t>
            </a:r>
            <a:r>
              <a:rPr lang="en-IN" sz="2000" b="1" dirty="0" err="1">
                <a:latin typeface="Times New Roman" panose="02020603050405020304" pitchFamily="18" charset="0"/>
                <a:cs typeface="Times New Roman" panose="02020603050405020304" pitchFamily="18" charset="0"/>
              </a:rPr>
              <a:t>analyze</a:t>
            </a:r>
            <a:r>
              <a:rPr lang="en-IN" sz="2000" b="1" dirty="0">
                <a:latin typeface="Times New Roman" panose="02020603050405020304" pitchFamily="18" charset="0"/>
                <a:cs typeface="Times New Roman" panose="02020603050405020304" pitchFamily="18" charset="0"/>
              </a:rPr>
              <a:t>, and generate actionable research insights</a:t>
            </a:r>
            <a:r>
              <a:rPr lang="en-IN" sz="2000" dirty="0">
                <a:latin typeface="Times New Roman" panose="02020603050405020304" pitchFamily="18" charset="0"/>
                <a:cs typeface="Times New Roman" panose="02020603050405020304" pitchFamily="18" charset="0"/>
              </a:rPr>
              <a:t> in real time.</a:t>
            </a:r>
          </a:p>
          <a:p>
            <a:pPr algn="just"/>
            <a:r>
              <a:rPr lang="en-IN" sz="2000" b="1" dirty="0">
                <a:latin typeface="Times New Roman" panose="02020603050405020304" pitchFamily="18" charset="0"/>
                <a:cs typeface="Times New Roman" panose="02020603050405020304" pitchFamily="18" charset="0"/>
              </a:rPr>
              <a:t>The Objective</a:t>
            </a:r>
            <a:endParaRPr lang="en-IN" sz="2000" dirty="0">
              <a:latin typeface="Times New Roman" panose="02020603050405020304" pitchFamily="18" charset="0"/>
              <a:cs typeface="Times New Roman" panose="02020603050405020304" pitchFamily="18" charset="0"/>
            </a:endParaRPr>
          </a:p>
          <a:p>
            <a:pPr algn="just"/>
            <a:r>
              <a:rPr lang="en-IN" sz="2000" dirty="0">
                <a:latin typeface="Times New Roman" panose="02020603050405020304" pitchFamily="18" charset="0"/>
                <a:cs typeface="Times New Roman" panose="02020603050405020304" pitchFamily="18" charset="0"/>
              </a:rPr>
              <a:t>Build an </a:t>
            </a:r>
            <a:r>
              <a:rPr lang="en-IN" sz="2000" b="1" dirty="0">
                <a:latin typeface="Times New Roman" panose="02020603050405020304" pitchFamily="18" charset="0"/>
                <a:cs typeface="Times New Roman" panose="02020603050405020304" pitchFamily="18" charset="0"/>
              </a:rPr>
              <a:t>agentic AI application</a:t>
            </a:r>
            <a:r>
              <a:rPr lang="en-IN" sz="2000" dirty="0">
                <a:latin typeface="Times New Roman" panose="02020603050405020304" pitchFamily="18" charset="0"/>
                <a:cs typeface="Times New Roman" panose="02020603050405020304" pitchFamily="18" charset="0"/>
              </a:rPr>
              <a:t> that acts as an intelligent research companion. The solution should:</a:t>
            </a:r>
          </a:p>
          <a:p>
            <a:pPr lvl="0" algn="just"/>
            <a:r>
              <a:rPr lang="en-IN" sz="2000" b="1" dirty="0">
                <a:latin typeface="Times New Roman" panose="02020603050405020304" pitchFamily="18" charset="0"/>
                <a:cs typeface="Times New Roman" panose="02020603050405020304" pitchFamily="18" charset="0"/>
              </a:rPr>
              <a:t>Fuse Academic Sources:</a:t>
            </a:r>
            <a:r>
              <a:rPr lang="en-IN" sz="2000" dirty="0">
                <a:latin typeface="Times New Roman" panose="02020603050405020304" pitchFamily="18" charset="0"/>
                <a:cs typeface="Times New Roman" panose="02020603050405020304" pitchFamily="18" charset="0"/>
              </a:rPr>
              <a:t> Aggregate data from research papers, journals, preprints, and knowledge repositories, then synthesize them into clear, concise literature reviews.</a:t>
            </a:r>
          </a:p>
          <a:p>
            <a:pPr lvl="0" algn="just"/>
            <a:r>
              <a:rPr lang="en-IN" sz="2000" b="1" dirty="0">
                <a:latin typeface="Times New Roman" panose="02020603050405020304" pitchFamily="18" charset="0"/>
                <a:cs typeface="Times New Roman" panose="02020603050405020304" pitchFamily="18" charset="0"/>
              </a:rPr>
              <a:t>Enable Multimodal Research Input:</a:t>
            </a:r>
            <a:r>
              <a:rPr lang="en-IN" sz="2000" dirty="0">
                <a:latin typeface="Times New Roman" panose="02020603050405020304" pitchFamily="18" charset="0"/>
                <a:cs typeface="Times New Roman" panose="02020603050405020304" pitchFamily="18" charset="0"/>
              </a:rPr>
              <a:t> Accept user queries, notes, charts, or even PDFs, and convert them into structured insights, references, and summaries.</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Problem Statement -</a:t>
            </a:r>
            <a:endParaRPr lang="en-IN"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DFE0DED-BF0F-0D7C-A1B5-DCC8B8410C3D}"/>
              </a:ext>
            </a:extLst>
          </p:cNvPr>
          <p:cNvSpPr txBox="1"/>
          <p:nvPr/>
        </p:nvSpPr>
        <p:spPr>
          <a:xfrm>
            <a:off x="707010" y="779456"/>
            <a:ext cx="10275217" cy="1938992"/>
          </a:xfrm>
          <a:prstGeom prst="rect">
            <a:avLst/>
          </a:prstGeom>
          <a:noFill/>
        </p:spPr>
        <p:txBody>
          <a:bodyPr wrap="square">
            <a:spAutoFit/>
          </a:bodyPr>
          <a:lstStyle/>
          <a:p>
            <a:pPr lvl="0"/>
            <a:r>
              <a:rPr lang="en-IN" sz="2000" b="1" dirty="0">
                <a:latin typeface="Times New Roman" panose="02020603050405020304" pitchFamily="18" charset="0"/>
                <a:cs typeface="Times New Roman" panose="02020603050405020304" pitchFamily="18" charset="0"/>
              </a:rPr>
              <a:t>Create a Predictive &amp; Agentic Layer:</a:t>
            </a:r>
            <a:r>
              <a:rPr lang="en-IN" sz="2000" dirty="0">
                <a:latin typeface="Times New Roman" panose="02020603050405020304" pitchFamily="18" charset="0"/>
                <a:cs typeface="Times New Roman" panose="02020603050405020304" pitchFamily="18" charset="0"/>
              </a:rPr>
              <a:t> Highlight emerging trends, detect citation gaps, and predict promising directions for future research in a given domain.</a:t>
            </a:r>
          </a:p>
          <a:p>
            <a:pPr lvl="0"/>
            <a:r>
              <a:rPr lang="en-IN" sz="2000" b="1" dirty="0">
                <a:latin typeface="Times New Roman" panose="02020603050405020304" pitchFamily="18" charset="0"/>
                <a:cs typeface="Times New Roman" panose="02020603050405020304" pitchFamily="18" charset="0"/>
              </a:rPr>
              <a:t>Visualize Research Insights:</a:t>
            </a:r>
            <a:r>
              <a:rPr lang="en-IN" sz="2000" dirty="0">
                <a:latin typeface="Times New Roman" panose="02020603050405020304" pitchFamily="18" charset="0"/>
                <a:cs typeface="Times New Roman" panose="02020603050405020304" pitchFamily="18" charset="0"/>
              </a:rPr>
              <a:t> Provide an interactive dashboard with topic clusters, citation maps, sentiment/trend analysis, and concise knowledge graphs.</a:t>
            </a:r>
          </a:p>
          <a:p>
            <a:r>
              <a:rPr lang="en-IN" sz="2000" b="1" dirty="0">
                <a:latin typeface="Times New Roman" panose="02020603050405020304" pitchFamily="18" charset="0"/>
                <a:cs typeface="Times New Roman" panose="02020603050405020304" pitchFamily="18" charset="0"/>
              </a:rPr>
              <a:t>Tech Stack (Mandatory)</a:t>
            </a:r>
            <a:endParaRPr lang="en-IN" sz="2000" dirty="0">
              <a:latin typeface="Times New Roman" panose="02020603050405020304" pitchFamily="18" charset="0"/>
              <a:cs typeface="Times New Roman" panose="02020603050405020304" pitchFamily="18" charset="0"/>
            </a:endParaRPr>
          </a:p>
          <a:p>
            <a:pPr lvl="0"/>
            <a:r>
              <a:rPr lang="en-IN" sz="2000" dirty="0">
                <a:latin typeface="Times New Roman" panose="02020603050405020304" pitchFamily="18" charset="0"/>
                <a:cs typeface="Times New Roman" panose="02020603050405020304" pitchFamily="18" charset="0"/>
              </a:rPr>
              <a:t>IBM </a:t>
            </a:r>
            <a:r>
              <a:rPr lang="en-IN" sz="2000" dirty="0" err="1">
                <a:latin typeface="Times New Roman" panose="02020603050405020304" pitchFamily="18" charset="0"/>
                <a:cs typeface="Times New Roman" panose="02020603050405020304" pitchFamily="18" charset="0"/>
              </a:rPr>
              <a:t>Langflow</a:t>
            </a:r>
            <a:r>
              <a:rPr lang="en-IN" sz="2000" dirty="0">
                <a:latin typeface="Times New Roman" panose="02020603050405020304" pitchFamily="18" charset="0"/>
                <a:cs typeface="Times New Roman" panose="02020603050405020304" pitchFamily="18" charset="0"/>
              </a:rPr>
              <a:t> / IBM Orchestrate + IBM Models</a:t>
            </a:r>
          </a:p>
        </p:txBody>
      </p:sp>
    </p:spTree>
    <p:extLst>
      <p:ext uri="{BB962C8B-B14F-4D97-AF65-F5344CB8AC3E}">
        <p14:creationId xmlns:p14="http://schemas.microsoft.com/office/powerpoint/2010/main" val="3622587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696354"/>
            <a:ext cx="10607040" cy="4093428"/>
          </a:xfrm>
          <a:prstGeom prst="rect">
            <a:avLst/>
          </a:prstGeom>
          <a:noFill/>
        </p:spPr>
        <p:txBody>
          <a:bodyPr wrap="square" rtlCol="0">
            <a:spAutoFit/>
          </a:bodyPr>
          <a:lstStyle/>
          <a:p>
            <a:r>
              <a:rPr lang="en-IN" sz="2000" b="1" dirty="0">
                <a:latin typeface="Times New Roman" panose="02020603050405020304" pitchFamily="18" charset="0"/>
                <a:cs typeface="Times New Roman" panose="02020603050405020304" pitchFamily="18" charset="0"/>
              </a:rPr>
              <a:t>Objective</a:t>
            </a:r>
          </a:p>
          <a:p>
            <a:pPr algn="just"/>
            <a:r>
              <a:rPr lang="en-IN" sz="2000" dirty="0">
                <a:latin typeface="Times New Roman" panose="02020603050405020304" pitchFamily="18" charset="0"/>
                <a:cs typeface="Times New Roman" panose="02020603050405020304" pitchFamily="18" charset="0"/>
              </a:rPr>
              <a:t>Develop an agentic AI assistant that autonomously discovers, </a:t>
            </a:r>
            <a:r>
              <a:rPr lang="en-IN" sz="2000" dirty="0" err="1">
                <a:latin typeface="Times New Roman" panose="02020603050405020304" pitchFamily="18" charset="0"/>
                <a:cs typeface="Times New Roman" panose="02020603050405020304" pitchFamily="18" charset="0"/>
              </a:rPr>
              <a:t>analyzes</a:t>
            </a:r>
            <a:r>
              <a:rPr lang="en-IN" sz="2000" dirty="0">
                <a:latin typeface="Times New Roman" panose="02020603050405020304" pitchFamily="18" charset="0"/>
                <a:cs typeface="Times New Roman" panose="02020603050405020304" pitchFamily="18" charset="0"/>
              </a:rPr>
              <a:t>, and synthesizes scientific knowledge from diverse sources.</a:t>
            </a:r>
          </a:p>
          <a:p>
            <a:pPr algn="just"/>
            <a:r>
              <a:rPr lang="en-IN" sz="2000" b="1" dirty="0">
                <a:latin typeface="Times New Roman" panose="02020603050405020304" pitchFamily="18" charset="0"/>
                <a:cs typeface="Times New Roman" panose="02020603050405020304" pitchFamily="18" charset="0"/>
              </a:rPr>
              <a:t>Key Features</a:t>
            </a:r>
            <a:endParaRPr lang="en-IN" sz="2000" dirty="0">
              <a:latin typeface="Times New Roman" panose="02020603050405020304" pitchFamily="18" charset="0"/>
              <a:cs typeface="Times New Roman" panose="02020603050405020304" pitchFamily="18" charset="0"/>
            </a:endParaRPr>
          </a:p>
          <a:p>
            <a:pPr algn="just"/>
            <a:r>
              <a:rPr lang="en-IN" sz="2000" b="1" dirty="0">
                <a:latin typeface="Times New Roman" panose="02020603050405020304" pitchFamily="18" charset="0"/>
                <a:cs typeface="Times New Roman" panose="02020603050405020304" pitchFamily="18" charset="0"/>
              </a:rPr>
              <a:t>Literature Fusion</a:t>
            </a:r>
            <a:r>
              <a:rPr lang="en-IN" sz="2000" dirty="0">
                <a:latin typeface="Times New Roman" panose="02020603050405020304" pitchFamily="18" charset="0"/>
                <a:cs typeface="Times New Roman" panose="02020603050405020304" pitchFamily="18" charset="0"/>
              </a:rPr>
              <a:t> </a:t>
            </a:r>
          </a:p>
          <a:p>
            <a:pPr lvl="1" algn="just"/>
            <a:r>
              <a:rPr lang="en-IN" sz="2000" dirty="0">
                <a:latin typeface="Times New Roman" panose="02020603050405020304" pitchFamily="18" charset="0"/>
                <a:cs typeface="Times New Roman" panose="02020603050405020304" pitchFamily="18" charset="0"/>
              </a:rPr>
              <a:t>Aggregates papers from </a:t>
            </a:r>
            <a:r>
              <a:rPr lang="en-IN" sz="2000" dirty="0" err="1">
                <a:latin typeface="Times New Roman" panose="02020603050405020304" pitchFamily="18" charset="0"/>
                <a:cs typeface="Times New Roman" panose="02020603050405020304" pitchFamily="18" charset="0"/>
              </a:rPr>
              <a:t>arXiv</a:t>
            </a:r>
            <a:r>
              <a:rPr lang="en-IN" sz="2000" dirty="0">
                <a:latin typeface="Times New Roman" panose="02020603050405020304" pitchFamily="18" charset="0"/>
                <a:cs typeface="Times New Roman" panose="02020603050405020304" pitchFamily="18" charset="0"/>
              </a:rPr>
              <a:t>, PubMed, Semantic Scholar, journals, and repositories. </a:t>
            </a:r>
          </a:p>
          <a:p>
            <a:pPr lvl="1" algn="just"/>
            <a:r>
              <a:rPr lang="en-IN" sz="2000" dirty="0">
                <a:latin typeface="Times New Roman" panose="02020603050405020304" pitchFamily="18" charset="0"/>
                <a:cs typeface="Times New Roman" panose="02020603050405020304" pitchFamily="18" charset="0"/>
              </a:rPr>
              <a:t>Generates concise literature reviews and comparative summaries. </a:t>
            </a:r>
          </a:p>
          <a:p>
            <a:pPr algn="just"/>
            <a:r>
              <a:rPr lang="en-IN" sz="2000" b="1" dirty="0">
                <a:latin typeface="Times New Roman" panose="02020603050405020304" pitchFamily="18" charset="0"/>
                <a:cs typeface="Times New Roman" panose="02020603050405020304" pitchFamily="18" charset="0"/>
              </a:rPr>
              <a:t>Multimodal Understanding</a:t>
            </a:r>
            <a:r>
              <a:rPr lang="en-IN" sz="2000" dirty="0">
                <a:latin typeface="Times New Roman" panose="02020603050405020304" pitchFamily="18" charset="0"/>
                <a:cs typeface="Times New Roman" panose="02020603050405020304" pitchFamily="18" charset="0"/>
              </a:rPr>
              <a:t> </a:t>
            </a:r>
          </a:p>
          <a:p>
            <a:pPr lvl="1" algn="just"/>
            <a:r>
              <a:rPr lang="en-IN" sz="2000" dirty="0">
                <a:latin typeface="Times New Roman" panose="02020603050405020304" pitchFamily="18" charset="0"/>
                <a:cs typeface="Times New Roman" panose="02020603050405020304" pitchFamily="18" charset="0"/>
              </a:rPr>
              <a:t>Accepts PDFs, notes, tables, charts, and images. </a:t>
            </a:r>
          </a:p>
          <a:p>
            <a:pPr lvl="1" algn="just"/>
            <a:r>
              <a:rPr lang="en-IN" sz="2000" dirty="0">
                <a:latin typeface="Times New Roman" panose="02020603050405020304" pitchFamily="18" charset="0"/>
                <a:cs typeface="Times New Roman" panose="02020603050405020304" pitchFamily="18" charset="0"/>
              </a:rPr>
              <a:t>Extracts methodologies, findings, limitations, and references. </a:t>
            </a:r>
          </a:p>
          <a:p>
            <a:pPr algn="just"/>
            <a:r>
              <a:rPr lang="en-IN" sz="2000" b="1" dirty="0">
                <a:latin typeface="Times New Roman" panose="02020603050405020304" pitchFamily="18" charset="0"/>
                <a:cs typeface="Times New Roman" panose="02020603050405020304" pitchFamily="18" charset="0"/>
              </a:rPr>
              <a:t>Predictive Intelligence</a:t>
            </a:r>
            <a:r>
              <a:rPr lang="en-IN" sz="2000" dirty="0">
                <a:latin typeface="Times New Roman" panose="02020603050405020304" pitchFamily="18" charset="0"/>
                <a:cs typeface="Times New Roman" panose="02020603050405020304" pitchFamily="18" charset="0"/>
              </a:rPr>
              <a:t> </a:t>
            </a:r>
          </a:p>
          <a:p>
            <a:pPr lvl="1" algn="just"/>
            <a:r>
              <a:rPr lang="en-IN" sz="2000" dirty="0">
                <a:latin typeface="Times New Roman" panose="02020603050405020304" pitchFamily="18" charset="0"/>
                <a:cs typeface="Times New Roman" panose="02020603050405020304" pitchFamily="18" charset="0"/>
              </a:rPr>
              <a:t>Detects citation gaps and underexplored research areas. </a:t>
            </a:r>
          </a:p>
          <a:p>
            <a:pPr lvl="1" algn="just"/>
            <a:r>
              <a:rPr lang="en-IN" sz="2000" dirty="0">
                <a:latin typeface="Times New Roman" panose="02020603050405020304" pitchFamily="18" charset="0"/>
                <a:cs typeface="Times New Roman" panose="02020603050405020304" pitchFamily="18" charset="0"/>
              </a:rPr>
              <a:t>Forecasts emerging topics using publication and citation trends. </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Proposed Solution -</a:t>
            </a:r>
            <a:endParaRPr lang="en-IN"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902949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5166377-D7D0-63C8-7B9B-A8C89628CCCA}"/>
              </a:ext>
            </a:extLst>
          </p:cNvPr>
          <p:cNvSpPr txBox="1"/>
          <p:nvPr/>
        </p:nvSpPr>
        <p:spPr>
          <a:xfrm>
            <a:off x="754144" y="740469"/>
            <a:ext cx="10539167" cy="5324535"/>
          </a:xfrm>
          <a:prstGeom prst="rect">
            <a:avLst/>
          </a:prstGeom>
          <a:noFill/>
        </p:spPr>
        <p:txBody>
          <a:bodyPr wrap="square">
            <a:spAutoFit/>
          </a:bodyPr>
          <a:lstStyle/>
          <a:p>
            <a:r>
              <a:rPr lang="en-IN" sz="2000" b="1" dirty="0">
                <a:latin typeface="Times New Roman" panose="02020603050405020304" pitchFamily="18" charset="0"/>
                <a:cs typeface="Times New Roman" panose="02020603050405020304" pitchFamily="18" charset="0"/>
              </a:rPr>
              <a:t>IBM Technology Stack</a:t>
            </a:r>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IBM Orchestrate – Agent coordination </a:t>
            </a:r>
          </a:p>
          <a:p>
            <a:r>
              <a:rPr lang="en-IN" sz="2000" dirty="0">
                <a:latin typeface="Times New Roman" panose="02020603050405020304" pitchFamily="18" charset="0"/>
                <a:cs typeface="Times New Roman" panose="02020603050405020304" pitchFamily="18" charset="0"/>
              </a:rPr>
              <a:t>IBM </a:t>
            </a:r>
            <a:r>
              <a:rPr lang="en-IN" sz="2000" dirty="0" err="1">
                <a:latin typeface="Times New Roman" panose="02020603050405020304" pitchFamily="18" charset="0"/>
                <a:cs typeface="Times New Roman" panose="02020603050405020304" pitchFamily="18" charset="0"/>
              </a:rPr>
              <a:t>Langflow</a:t>
            </a:r>
            <a:r>
              <a:rPr lang="en-IN" sz="2000" dirty="0">
                <a:latin typeface="Times New Roman" panose="02020603050405020304" pitchFamily="18" charset="0"/>
                <a:cs typeface="Times New Roman" panose="02020603050405020304" pitchFamily="18" charset="0"/>
              </a:rPr>
              <a:t> – Workflow orchestration </a:t>
            </a:r>
          </a:p>
          <a:p>
            <a:r>
              <a:rPr lang="en-IN" sz="2000" dirty="0">
                <a:latin typeface="Times New Roman" panose="02020603050405020304" pitchFamily="18" charset="0"/>
                <a:cs typeface="Times New Roman" panose="02020603050405020304" pitchFamily="18" charset="0"/>
              </a:rPr>
              <a:t>IBM Granite Models – Reasoning, summarization, embeddings, vision </a:t>
            </a:r>
          </a:p>
          <a:p>
            <a:r>
              <a:rPr lang="en-IN" sz="2000" dirty="0" err="1">
                <a:latin typeface="Times New Roman" panose="02020603050405020304" pitchFamily="18" charset="0"/>
                <a:cs typeface="Times New Roman" panose="02020603050405020304" pitchFamily="18" charset="0"/>
              </a:rPr>
              <a:t>Neo4j</a:t>
            </a:r>
            <a:r>
              <a:rPr lang="en-IN" sz="2000" dirty="0">
                <a:latin typeface="Times New Roman" panose="02020603050405020304" pitchFamily="18" charset="0"/>
                <a:cs typeface="Times New Roman" panose="02020603050405020304" pitchFamily="18" charset="0"/>
              </a:rPr>
              <a:t> + Milvus/Chroma – Knowledge graph and vector storage</a:t>
            </a:r>
          </a:p>
          <a:p>
            <a:pPr>
              <a:buNone/>
            </a:pPr>
            <a:r>
              <a:rPr lang="en-US" sz="2000" b="1" dirty="0">
                <a:latin typeface="Times New Roman" panose="02020603050405020304" pitchFamily="18" charset="0"/>
                <a:cs typeface="Times New Roman" panose="02020603050405020304" pitchFamily="18" charset="0"/>
              </a:rPr>
              <a:t>Dashboard Capabilities</a:t>
            </a:r>
            <a:endParaRPr lang="en-US" sz="200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Topic clustering and knowledge graphs </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Citation maps and influential paper discovery </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Publication and keyword trend analysis </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Suggested future research directions </a:t>
            </a:r>
          </a:p>
          <a:p>
            <a:pPr marL="285750" indent="-285750">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Innovation</a:t>
            </a:r>
            <a:br>
              <a:rPr lang="en-US" sz="2000"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Autonomous research cycle: </a:t>
            </a:r>
          </a:p>
          <a:p>
            <a:r>
              <a:rPr lang="en-US" sz="2000" i="1" dirty="0">
                <a:latin typeface="Times New Roman" panose="02020603050405020304" pitchFamily="18" charset="0"/>
                <a:cs typeface="Times New Roman" panose="02020603050405020304" pitchFamily="18" charset="0"/>
              </a:rPr>
              <a:t>Search → Read → Analyze → Infer → Predict</a:t>
            </a:r>
            <a:endParaRPr lang="en-US" sz="20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Citation-gap recommendations resembling peer-review feedback</a:t>
            </a:r>
          </a:p>
          <a:p>
            <a:pPr marL="285750"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Continuous knowledge graph updates for an always-current research assistant</a:t>
            </a:r>
          </a:p>
          <a:p>
            <a:pPr>
              <a:buNone/>
            </a:pPr>
            <a:r>
              <a:rPr lang="en-US" sz="2000" dirty="0">
                <a:latin typeface="Times New Roman" panose="02020603050405020304" pitchFamily="18" charset="0"/>
                <a:cs typeface="Times New Roman" panose="02020603050405020304" pitchFamily="18" charset="0"/>
              </a:rPr>
              <a:t>This version is suitable for a hackathon or proposal presentation and should fit neatly into two slides with minimal formatting adjustments.</a:t>
            </a:r>
          </a:p>
        </p:txBody>
      </p:sp>
    </p:spTree>
    <p:extLst>
      <p:ext uri="{BB962C8B-B14F-4D97-AF65-F5344CB8AC3E}">
        <p14:creationId xmlns:p14="http://schemas.microsoft.com/office/powerpoint/2010/main" val="34896802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dirty="0">
                <a:latin typeface="Times New Roman" panose="02020603050405020304" pitchFamily="18" charset="0"/>
                <a:cs typeface="Times New Roman" panose="02020603050405020304" pitchFamily="18" charset="0"/>
              </a:rPr>
              <a:t>Technology Used</a:t>
            </a:r>
            <a:endParaRPr lang="en-IN" sz="2400" b="1"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016758"/>
          </a:xfrm>
          <a:prstGeom prst="rect">
            <a:avLst/>
          </a:prstGeom>
          <a:noFill/>
        </p:spPr>
        <p:txBody>
          <a:bodyPr wrap="square" rtlCol="0">
            <a:spAutoFit/>
          </a:bodyPr>
          <a:lstStyle/>
          <a:p>
            <a:r>
              <a:rPr lang="en-IN" sz="2000" dirty="0">
                <a:latin typeface="Times New Roman" panose="02020603050405020304" pitchFamily="18" charset="0"/>
                <a:cs typeface="Times New Roman" panose="02020603050405020304" pitchFamily="18" charset="0"/>
              </a:rPr>
              <a:t> </a:t>
            </a:r>
          </a:p>
          <a:p>
            <a:pPr marL="285750" lvl="0" indent="-28575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IBM Granite Model (</a:t>
            </a:r>
            <a:r>
              <a:rPr lang="en-IN" sz="2000" b="1" dirty="0" err="1">
                <a:latin typeface="Times New Roman" panose="02020603050405020304" pitchFamily="18" charset="0"/>
                <a:cs typeface="Times New Roman" panose="02020603050405020304" pitchFamily="18" charset="0"/>
              </a:rPr>
              <a:t>ibm</a:t>
            </a:r>
            <a:r>
              <a:rPr lang="en-IN" sz="2000" b="1" dirty="0">
                <a:latin typeface="Times New Roman" panose="02020603050405020304" pitchFamily="18" charset="0"/>
                <a:cs typeface="Times New Roman" panose="02020603050405020304" pitchFamily="18" charset="0"/>
              </a:rPr>
              <a:t>-granite-3-2-</a:t>
            </a:r>
            <a:r>
              <a:rPr lang="en-IN" sz="2000" b="1" dirty="0" err="1">
                <a:latin typeface="Times New Roman" panose="02020603050405020304" pitchFamily="18" charset="0"/>
                <a:cs typeface="Times New Roman" panose="02020603050405020304" pitchFamily="18" charset="0"/>
              </a:rPr>
              <a:t>8b</a:t>
            </a:r>
            <a:r>
              <a:rPr lang="en-IN" sz="2000" b="1" dirty="0">
                <a:latin typeface="Times New Roman" panose="02020603050405020304" pitchFamily="18" charset="0"/>
                <a:cs typeface="Times New Roman" panose="02020603050405020304" pitchFamily="18" charset="0"/>
              </a:rPr>
              <a:t>)</a:t>
            </a:r>
            <a:r>
              <a:rPr lang="en-IN" sz="2000" dirty="0">
                <a:latin typeface="Times New Roman" panose="02020603050405020304" pitchFamily="18" charset="0"/>
                <a:cs typeface="Times New Roman" panose="02020603050405020304" pitchFamily="18" charset="0"/>
              </a:rPr>
              <a:t> – For natural language understanding, reasoning, literature synthesis, research gap identification, and personalized recommendations. </a:t>
            </a:r>
          </a:p>
          <a:p>
            <a:pPr marL="285750" lvl="0" indent="-28575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IBM Cloud</a:t>
            </a:r>
            <a:r>
              <a:rPr lang="en-IN" sz="2000" dirty="0">
                <a:latin typeface="Times New Roman" panose="02020603050405020304" pitchFamily="18" charset="0"/>
                <a:cs typeface="Times New Roman" panose="02020603050405020304" pitchFamily="18" charset="0"/>
              </a:rPr>
              <a:t> – Provides the infrastructure to build, deploy, and scale the Research Agent efficiently, ensuring a reliable, secure, and scalable environment. </a:t>
            </a:r>
          </a:p>
          <a:p>
            <a:pPr marL="285750" lvl="0" indent="-28575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Lightweight RAG System</a:t>
            </a:r>
            <a:r>
              <a:rPr lang="en-IN" sz="2000" dirty="0">
                <a:latin typeface="Times New Roman" panose="02020603050405020304" pitchFamily="18" charset="0"/>
                <a:cs typeface="Times New Roman" panose="02020603050405020304" pitchFamily="18" charset="0"/>
              </a:rPr>
              <a:t> – Retrieves relevant publications, papers, and knowledge-base entries before generating responses, making the Research Agent more accurate, explainable, and trustworthy. </a:t>
            </a:r>
          </a:p>
          <a:p>
            <a:pPr marL="285750" lvl="0" indent="-28575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IBM </a:t>
            </a:r>
            <a:r>
              <a:rPr lang="en-IN" sz="2000" b="1" dirty="0" err="1">
                <a:latin typeface="Times New Roman" panose="02020603050405020304" pitchFamily="18" charset="0"/>
                <a:cs typeface="Times New Roman" panose="02020603050405020304" pitchFamily="18" charset="0"/>
              </a:rPr>
              <a:t>Watsonx.ai</a:t>
            </a:r>
            <a:r>
              <a:rPr lang="en-IN" sz="2000" dirty="0">
                <a:latin typeface="Times New Roman" panose="02020603050405020304" pitchFamily="18" charset="0"/>
                <a:cs typeface="Times New Roman" panose="02020603050405020304" pitchFamily="18" charset="0"/>
              </a:rPr>
              <a:t> – For model deployment, embedding generation, agent orchestration support, and AI governance. </a:t>
            </a:r>
          </a:p>
          <a:p>
            <a:pPr marL="285750" lvl="0" indent="-28575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Python</a:t>
            </a:r>
            <a:r>
              <a:rPr lang="en-IN" sz="2000" dirty="0">
                <a:latin typeface="Times New Roman" panose="02020603050405020304" pitchFamily="18" charset="0"/>
                <a:cs typeface="Times New Roman" panose="02020603050405020304" pitchFamily="18" charset="0"/>
              </a:rPr>
              <a:t> – Serves as the core development language, offering rich ecosystems for machine learning, data processing, visualization, and integration with IBM technologies. </a:t>
            </a:r>
          </a:p>
          <a:p>
            <a:pPr marL="285750" lvl="0" indent="-285750">
              <a:buFont typeface="Arial" panose="020B0604020202020204" pitchFamily="34" charset="0"/>
              <a:buChar char="•"/>
            </a:pPr>
            <a:r>
              <a:rPr lang="en-IN" sz="2000" b="1" dirty="0">
                <a:latin typeface="Times New Roman" panose="02020603050405020304" pitchFamily="18" charset="0"/>
                <a:cs typeface="Times New Roman" panose="02020603050405020304" pitchFamily="18" charset="0"/>
              </a:rPr>
              <a:t>Flask</a:t>
            </a:r>
            <a:r>
              <a:rPr lang="en-IN" sz="2000" dirty="0">
                <a:latin typeface="Times New Roman" panose="02020603050405020304" pitchFamily="18" charset="0"/>
                <a:cs typeface="Times New Roman" panose="02020603050405020304" pitchFamily="18" charset="0"/>
              </a:rPr>
              <a:t> – Used to develop backend APIs and services that connect the user interface with AI models, vector databases, and knowledge graph components, enabling efficient request handling and scalable deployment.</a:t>
            </a:r>
            <a:endParaRPr lang="en-US" sz="2000" dirty="0">
              <a:latin typeface="Times New Roman" panose="02020603050405020304" pitchFamily="18" charset="0"/>
              <a:cs typeface="Times New Roman" panose="02020603050405020304" pitchFamily="18" charset="0"/>
            </a:endParaRP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44058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latin typeface="Times New Roman" panose="02020603050405020304" pitchFamily="18" charset="0"/>
                <a:cs typeface="Times New Roman" panose="02020603050405020304" pitchFamily="18" charset="0"/>
                <a:sym typeface="Times New Roman"/>
              </a:rPr>
              <a:t>IBM Bob</a:t>
            </a:r>
            <a:r>
              <a:rPr lang="en-US" sz="3500" b="1" i="0" u="none" strike="noStrike" cap="none" dirty="0">
                <a:solidFill>
                  <a:srgbClr val="051D3A"/>
                </a:solidFill>
                <a:latin typeface="Times New Roman" panose="02020603050405020304" pitchFamily="18" charset="0"/>
                <a:ea typeface="Times New Roman"/>
                <a:cs typeface="Times New Roman" panose="02020603050405020304" pitchFamily="18" charset="0"/>
                <a:sym typeface="Times New Roman"/>
              </a:rPr>
              <a:t> </a:t>
            </a:r>
            <a:r>
              <a:rPr lang="en-US" sz="2400" b="1" dirty="0">
                <a:latin typeface="Times New Roman" panose="02020603050405020304" pitchFamily="18" charset="0"/>
                <a:cs typeface="Times New Roman" panose="02020603050405020304" pitchFamily="18" charset="0"/>
                <a:sym typeface="Times New Roman"/>
              </a:rPr>
              <a:t>workflow -</a:t>
            </a:r>
            <a:endParaRPr sz="2400" b="1" dirty="0">
              <a:latin typeface="Times New Roman" panose="02020603050405020304" pitchFamily="18" charset="0"/>
              <a:cs typeface="Times New Roman" panose="02020603050405020304" pitchFamily="18" charset="0"/>
              <a:sym typeface="Times New Roman"/>
            </a:endParaRPr>
          </a:p>
        </p:txBody>
      </p:sp>
      <p:pic>
        <p:nvPicPr>
          <p:cNvPr id="4" name="Picture 3">
            <a:extLst>
              <a:ext uri="{FF2B5EF4-FFF2-40B4-BE49-F238E27FC236}">
                <a16:creationId xmlns:a16="http://schemas.microsoft.com/office/drawing/2014/main" id="{98EBF969-2B8A-867E-F5B4-58DAA74E01E6}"/>
              </a:ext>
            </a:extLst>
          </p:cNvPr>
          <p:cNvPicPr>
            <a:picLocks noChangeAspect="1"/>
          </p:cNvPicPr>
          <p:nvPr/>
        </p:nvPicPr>
        <p:blipFill>
          <a:blip r:embed="rId3"/>
          <a:stretch>
            <a:fillRect/>
          </a:stretch>
        </p:blipFill>
        <p:spPr>
          <a:xfrm>
            <a:off x="6096000" y="1624338"/>
            <a:ext cx="5773442" cy="3756010"/>
          </a:xfrm>
          <a:prstGeom prst="rect">
            <a:avLst/>
          </a:prstGeom>
        </p:spPr>
      </p:pic>
      <p:pic>
        <p:nvPicPr>
          <p:cNvPr id="6" name="Picture 5">
            <a:extLst>
              <a:ext uri="{FF2B5EF4-FFF2-40B4-BE49-F238E27FC236}">
                <a16:creationId xmlns:a16="http://schemas.microsoft.com/office/drawing/2014/main" id="{E2AB2EEE-2058-5325-C7A0-02237A4728E5}"/>
              </a:ext>
            </a:extLst>
          </p:cNvPr>
          <p:cNvPicPr>
            <a:picLocks noChangeAspect="1"/>
          </p:cNvPicPr>
          <p:nvPr/>
        </p:nvPicPr>
        <p:blipFill>
          <a:blip r:embed="rId4"/>
          <a:stretch>
            <a:fillRect/>
          </a:stretch>
        </p:blipFill>
        <p:spPr>
          <a:xfrm>
            <a:off x="399521" y="1624338"/>
            <a:ext cx="5536224" cy="3780149"/>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Times New Roman" panose="02020603050405020304" pitchFamily="18" charset="0"/>
                <a:ea typeface="Calibri"/>
                <a:cs typeface="Times New Roman" panose="02020603050405020304" pitchFamily="18" charset="0"/>
                <a:sym typeface="Calibri"/>
              </a:rPr>
              <a:t>Architecture blueprint</a:t>
            </a:r>
            <a:endParaRPr lang="en-US" sz="2400"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0CD0E08F-97B7-408E-15FF-3A826D29D367}"/>
              </a:ext>
            </a:extLst>
          </p:cNvPr>
          <p:cNvPicPr>
            <a:picLocks noChangeAspect="1"/>
          </p:cNvPicPr>
          <p:nvPr/>
        </p:nvPicPr>
        <p:blipFill>
          <a:blip r:embed="rId3"/>
          <a:srcRect t="412" b="34512"/>
          <a:stretch>
            <a:fillRect/>
          </a:stretch>
        </p:blipFill>
        <p:spPr>
          <a:xfrm>
            <a:off x="3725158" y="137666"/>
            <a:ext cx="8162042" cy="658266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50B5AE1-3AC5-0E25-05B5-54446A0864FD}"/>
              </a:ext>
            </a:extLst>
          </p:cNvPr>
          <p:cNvPicPr>
            <a:picLocks noChangeAspect="1"/>
          </p:cNvPicPr>
          <p:nvPr/>
        </p:nvPicPr>
        <p:blipFill>
          <a:blip r:embed="rId2"/>
          <a:stretch>
            <a:fillRect/>
          </a:stretch>
        </p:blipFill>
        <p:spPr>
          <a:xfrm>
            <a:off x="1368065" y="618197"/>
            <a:ext cx="9455870" cy="5621606"/>
          </a:xfrm>
          <a:prstGeom prst="rect">
            <a:avLst/>
          </a:prstGeom>
        </p:spPr>
      </p:pic>
      <p:sp>
        <p:nvSpPr>
          <p:cNvPr id="6" name="TextBox 5">
            <a:extLst>
              <a:ext uri="{FF2B5EF4-FFF2-40B4-BE49-F238E27FC236}">
                <a16:creationId xmlns:a16="http://schemas.microsoft.com/office/drawing/2014/main" id="{64E8A8E1-EA56-6264-9733-3B346B3CC025}"/>
              </a:ext>
            </a:extLst>
          </p:cNvPr>
          <p:cNvSpPr txBox="1"/>
          <p:nvPr/>
        </p:nvSpPr>
        <p:spPr>
          <a:xfrm>
            <a:off x="424207" y="156532"/>
            <a:ext cx="7390614" cy="461665"/>
          </a:xfrm>
          <a:prstGeom prst="rect">
            <a:avLst/>
          </a:prstGeom>
          <a:noFill/>
        </p:spPr>
        <p:txBody>
          <a:bodyPr wrap="square" rtlCol="0">
            <a:spAutoFit/>
          </a:bodyPr>
          <a:lstStyle/>
          <a:p>
            <a:r>
              <a:rPr lang="en-IN" sz="2400" b="1" dirty="0">
                <a:latin typeface="Times New Roman" panose="02020603050405020304" pitchFamily="18" charset="0"/>
                <a:cs typeface="Times New Roman" panose="02020603050405020304" pitchFamily="18" charset="0"/>
              </a:rPr>
              <a:t>Screenshots of the Agentic AI Assistant in Action</a:t>
            </a:r>
          </a:p>
        </p:txBody>
      </p:sp>
    </p:spTree>
    <p:extLst>
      <p:ext uri="{BB962C8B-B14F-4D97-AF65-F5344CB8AC3E}">
        <p14:creationId xmlns:p14="http://schemas.microsoft.com/office/powerpoint/2010/main" val="34854801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BB72F8-EDF0-C454-2B31-A020C472F523}"/>
              </a:ext>
            </a:extLst>
          </p:cNvPr>
          <p:cNvPicPr>
            <a:picLocks noChangeAspect="1"/>
          </p:cNvPicPr>
          <p:nvPr/>
        </p:nvPicPr>
        <p:blipFill>
          <a:blip r:embed="rId2"/>
          <a:stretch>
            <a:fillRect/>
          </a:stretch>
        </p:blipFill>
        <p:spPr>
          <a:xfrm>
            <a:off x="1463637" y="618197"/>
            <a:ext cx="9264725" cy="5671712"/>
          </a:xfrm>
          <a:prstGeom prst="rect">
            <a:avLst/>
          </a:prstGeom>
        </p:spPr>
      </p:pic>
      <p:sp>
        <p:nvSpPr>
          <p:cNvPr id="4" name="TextBox 3">
            <a:extLst>
              <a:ext uri="{FF2B5EF4-FFF2-40B4-BE49-F238E27FC236}">
                <a16:creationId xmlns:a16="http://schemas.microsoft.com/office/drawing/2014/main" id="{AE657055-1D35-0178-220D-4C1BF9A50448}"/>
              </a:ext>
            </a:extLst>
          </p:cNvPr>
          <p:cNvSpPr txBox="1"/>
          <p:nvPr/>
        </p:nvSpPr>
        <p:spPr>
          <a:xfrm>
            <a:off x="424207" y="156532"/>
            <a:ext cx="7390614" cy="461665"/>
          </a:xfrm>
          <a:prstGeom prst="rect">
            <a:avLst/>
          </a:prstGeom>
          <a:noFill/>
        </p:spPr>
        <p:txBody>
          <a:bodyPr wrap="square" rtlCol="0">
            <a:spAutoFit/>
          </a:bodyPr>
          <a:lstStyle/>
          <a:p>
            <a:r>
              <a:rPr lang="en-IN" sz="2400" b="1" dirty="0">
                <a:latin typeface="Times New Roman" panose="02020603050405020304" pitchFamily="18" charset="0"/>
                <a:cs typeface="Times New Roman" panose="02020603050405020304" pitchFamily="18" charset="0"/>
              </a:rPr>
              <a:t>Screenshots of the Agentic AI Assistant in Action</a:t>
            </a:r>
          </a:p>
        </p:txBody>
      </p:sp>
    </p:spTree>
    <p:extLst>
      <p:ext uri="{BB962C8B-B14F-4D97-AF65-F5344CB8AC3E}">
        <p14:creationId xmlns:p14="http://schemas.microsoft.com/office/powerpoint/2010/main" val="2954221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Role of Agentic AI in the Solution </a:t>
            </a:r>
            <a:endParaRPr lang="en-IN" sz="2400" b="1"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22462E8-EB3A-DA7D-44CB-4E757803A755}"/>
              </a:ext>
            </a:extLst>
          </p:cNvPr>
          <p:cNvSpPr txBox="1"/>
          <p:nvPr/>
        </p:nvSpPr>
        <p:spPr>
          <a:xfrm>
            <a:off x="562466" y="1065229"/>
            <a:ext cx="5263299" cy="4370427"/>
          </a:xfrm>
          <a:prstGeom prst="rect">
            <a:avLst/>
          </a:prstGeom>
          <a:noFill/>
        </p:spPr>
        <p:txBody>
          <a:bodyPr wrap="square" rtlCol="0">
            <a:spAutoFit/>
          </a:bodyPr>
          <a:lstStyle/>
          <a:p>
            <a:endParaRPr lang="en-US" sz="1800" b="1" dirty="0">
              <a:latin typeface="Times New Roman" panose="02020603050405020304" pitchFamily="18" charset="0"/>
              <a:cs typeface="Times New Roman" panose="02020603050405020304" pitchFamily="18" charset="0"/>
            </a:endParaRPr>
          </a:p>
          <a:p>
            <a:r>
              <a:rPr lang="en-US" sz="1800" b="1" dirty="0">
                <a:latin typeface="Times New Roman" panose="02020603050405020304" pitchFamily="18" charset="0"/>
                <a:cs typeface="Times New Roman" panose="02020603050405020304" pitchFamily="18" charset="0"/>
              </a:rPr>
              <a:t>Role of Agentic AI in Research Agent</a:t>
            </a:r>
          </a:p>
          <a:p>
            <a:endParaRPr lang="en-US" sz="1800" b="1" dirty="0">
              <a:latin typeface="Times New Roman" panose="02020603050405020304" pitchFamily="18" charset="0"/>
              <a:cs typeface="Times New Roman" panose="02020603050405020304" pitchFamily="18" charset="0"/>
            </a:endParaRPr>
          </a:p>
          <a:p>
            <a:r>
              <a:rPr lang="en-US" sz="1600" dirty="0">
                <a:latin typeface="Times New Roman" panose="02020603050405020304" pitchFamily="18" charset="0"/>
                <a:cs typeface="Times New Roman" panose="02020603050405020304" pitchFamily="18" charset="0"/>
              </a:rPr>
              <a:t>Agentic AI serves as the core intelligence and decision-making layer of </a:t>
            </a:r>
            <a:r>
              <a:rPr lang="en-US" sz="1600" dirty="0" err="1">
                <a:latin typeface="Times New Roman" panose="02020603050405020304" pitchFamily="18" charset="0"/>
                <a:cs typeface="Times New Roman" panose="02020603050405020304" pitchFamily="18" charset="0"/>
              </a:rPr>
              <a:t>ResearchMind</a:t>
            </a:r>
            <a:r>
              <a:rPr lang="en-US" sz="1600" dirty="0">
                <a:latin typeface="Times New Roman" panose="02020603050405020304" pitchFamily="18" charset="0"/>
                <a:cs typeface="Times New Roman" panose="02020603050405020304" pitchFamily="18" charset="0"/>
              </a:rPr>
              <a:t> AI, enabling the system to autonomously perform complex research activities with minimal user intervention. It interprets user queries, decomposes them into subtasks, and dynamically orchestrates specialized agents for literature mining, multimodal document processing, knowledge synthesis, trend analysis, and visualization. </a:t>
            </a:r>
          </a:p>
          <a:p>
            <a:r>
              <a:rPr lang="en-US" sz="1600" dirty="0">
                <a:latin typeface="Times New Roman" panose="02020603050405020304" pitchFamily="18" charset="0"/>
                <a:cs typeface="Times New Roman" panose="02020603050405020304" pitchFamily="18" charset="0"/>
              </a:rPr>
              <a:t>The agent continuously searches scholarly repositories, filters relevant publications, and integrates information from PDFs, notes, charts, and images to generate comprehensive insights. It further analyzes citation networks to identify missing references, detect research gaps, and suggest unexplored opportunities. </a:t>
            </a:r>
          </a:p>
        </p:txBody>
      </p:sp>
      <p:pic>
        <p:nvPicPr>
          <p:cNvPr id="5" name="Picture 4">
            <a:extLst>
              <a:ext uri="{FF2B5EF4-FFF2-40B4-BE49-F238E27FC236}">
                <a16:creationId xmlns:a16="http://schemas.microsoft.com/office/drawing/2014/main" id="{23905DA6-C78F-80EC-51D4-CCEC8D331045}"/>
              </a:ext>
            </a:extLst>
          </p:cNvPr>
          <p:cNvPicPr>
            <a:picLocks noChangeAspect="1"/>
          </p:cNvPicPr>
          <p:nvPr/>
        </p:nvPicPr>
        <p:blipFill>
          <a:blip r:embed="rId3"/>
          <a:stretch>
            <a:fillRect/>
          </a:stretch>
        </p:blipFill>
        <p:spPr>
          <a:xfrm>
            <a:off x="6174556" y="1065229"/>
            <a:ext cx="5328979" cy="2965289"/>
          </a:xfrm>
          <a:prstGeom prst="rect">
            <a:avLst/>
          </a:prstGeom>
        </p:spPr>
      </p:pic>
      <p:sp>
        <p:nvSpPr>
          <p:cNvPr id="6" name="TextBox 5">
            <a:extLst>
              <a:ext uri="{FF2B5EF4-FFF2-40B4-BE49-F238E27FC236}">
                <a16:creationId xmlns:a16="http://schemas.microsoft.com/office/drawing/2014/main" id="{8672D856-3804-0769-8EA3-F2A19C4CAA11}"/>
              </a:ext>
            </a:extLst>
          </p:cNvPr>
          <p:cNvSpPr txBox="1"/>
          <p:nvPr/>
        </p:nvSpPr>
        <p:spPr>
          <a:xfrm>
            <a:off x="6096000" y="4227508"/>
            <a:ext cx="5831742" cy="2062103"/>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By monitoring publication growth, citation patterns, and emerging keywords, Agentic AI predicts promising future research directions and recommends potential hypotheses.</a:t>
            </a:r>
          </a:p>
          <a:p>
            <a:r>
              <a:rPr lang="en-US" sz="1600" dirty="0">
                <a:latin typeface="Times New Roman" panose="02020603050405020304" pitchFamily="18" charset="0"/>
                <a:cs typeface="Times New Roman" panose="02020603050405020304" pitchFamily="18" charset="0"/>
              </a:rPr>
              <a:t>Through continuous learning and adaptation to newly published work and user feedback, </a:t>
            </a:r>
            <a:r>
              <a:rPr lang="en-US" sz="1600" dirty="0" err="1">
                <a:latin typeface="Times New Roman" panose="02020603050405020304" pitchFamily="18" charset="0"/>
                <a:cs typeface="Times New Roman" panose="02020603050405020304" pitchFamily="18" charset="0"/>
              </a:rPr>
              <a:t>ResearchMind</a:t>
            </a:r>
            <a:r>
              <a:rPr lang="en-US" sz="1600" dirty="0">
                <a:latin typeface="Times New Roman" panose="02020603050405020304" pitchFamily="18" charset="0"/>
                <a:cs typeface="Times New Roman" panose="02020603050405020304" pitchFamily="18" charset="0"/>
              </a:rPr>
              <a:t> AI transforms from a passive search and </a:t>
            </a:r>
            <a:r>
              <a:rPr lang="en-US" sz="1600" dirty="0" err="1">
                <a:latin typeface="Times New Roman" panose="02020603050405020304" pitchFamily="18" charset="0"/>
                <a:cs typeface="Times New Roman" panose="02020603050405020304" pitchFamily="18" charset="0"/>
              </a:rPr>
              <a:t>summarisation</a:t>
            </a:r>
            <a:r>
              <a:rPr lang="en-US" sz="1600" dirty="0">
                <a:latin typeface="Times New Roman" panose="02020603050405020304" pitchFamily="18" charset="0"/>
                <a:cs typeface="Times New Roman" panose="02020603050405020304" pitchFamily="18" charset="0"/>
              </a:rPr>
              <a:t> tool into an intelligent, proactive research collaborator capable of discovering, </a:t>
            </a:r>
            <a:r>
              <a:rPr lang="en-US" sz="1600" dirty="0" err="1">
                <a:latin typeface="Times New Roman" panose="02020603050405020304" pitchFamily="18" charset="0"/>
                <a:cs typeface="Times New Roman" panose="02020603050405020304" pitchFamily="18" charset="0"/>
              </a:rPr>
              <a:t>analysing</a:t>
            </a:r>
            <a:r>
              <a:rPr lang="en-US" sz="1600" dirty="0">
                <a:latin typeface="Times New Roman" panose="02020603050405020304" pitchFamily="18" charset="0"/>
                <a:cs typeface="Times New Roman" panose="02020603050405020304" pitchFamily="18" charset="0"/>
              </a:rPr>
              <a:t>, predicting, and recommending actionable scientific insights.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latin typeface="Times New Roman" panose="02020603050405020304" pitchFamily="18" charset="0"/>
                <a:cs typeface="Times New Roman" panose="02020603050405020304" pitchFamily="18" charset="0"/>
                <a:sym typeface="Times New Roman"/>
              </a:rPr>
              <a:t>Token Usage </a:t>
            </a:r>
            <a:endParaRPr sz="2400" b="1" dirty="0">
              <a:latin typeface="Times New Roman" panose="02020603050405020304" pitchFamily="18" charset="0"/>
              <a:cs typeface="Times New Roman" panose="02020603050405020304" pitchFamily="18" charset="0"/>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C58139BC-687C-7390-9389-02CA6F7C415C}"/>
              </a:ext>
            </a:extLst>
          </p:cNvPr>
          <p:cNvPicPr>
            <a:picLocks noChangeAspect="1"/>
          </p:cNvPicPr>
          <p:nvPr/>
        </p:nvPicPr>
        <p:blipFill>
          <a:blip r:embed="rId3"/>
          <a:stretch>
            <a:fillRect/>
          </a:stretch>
        </p:blipFill>
        <p:spPr>
          <a:xfrm>
            <a:off x="2245820" y="1044263"/>
            <a:ext cx="7700359" cy="5259325"/>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latin typeface="Times New Roman" panose="02020603050405020304" pitchFamily="18" charset="0"/>
                <a:cs typeface="Times New Roman" panose="02020603050405020304" pitchFamily="18" charset="0"/>
              </a:rPr>
              <a:t>Novelty and Uniqueness</a:t>
            </a:r>
            <a:endParaRPr lang="en-IN" sz="2400" b="1"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408210"/>
            <a:ext cx="10186133" cy="5016758"/>
          </a:xfrm>
          <a:prstGeom prst="rect">
            <a:avLst/>
          </a:prstGeom>
          <a:noFill/>
        </p:spPr>
        <p:txBody>
          <a:bodyPr wrap="square" rtlCol="0">
            <a:spAutoFit/>
          </a:bodyPr>
          <a:lstStyle/>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Autonomous Research Companion</a:t>
            </a:r>
            <a:r>
              <a:rPr lang="en-IN" sz="1600" dirty="0">
                <a:latin typeface="Times New Roman" panose="02020603050405020304" pitchFamily="18" charset="0"/>
                <a:cs typeface="Times New Roman" panose="02020603050405020304" pitchFamily="18" charset="0"/>
              </a:rPr>
              <a:t> – Goes beyond conventional search engines by independently planning, executing, and refining research workflows using Agentic AI.</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Multimodal Knowledge Understanding</a:t>
            </a:r>
            <a:r>
              <a:rPr lang="en-IN" sz="1600" dirty="0">
                <a:latin typeface="Times New Roman" panose="02020603050405020304" pitchFamily="18" charset="0"/>
                <a:cs typeface="Times New Roman" panose="02020603050405020304" pitchFamily="18" charset="0"/>
              </a:rPr>
              <a:t> – Simultaneously processes research papers, PDFs, handwritten notes, charts, tables, and images to generate unified insights.</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Citation Gap Detection</a:t>
            </a:r>
            <a:r>
              <a:rPr lang="en-IN" sz="1600" dirty="0">
                <a:latin typeface="Times New Roman" panose="02020603050405020304" pitchFamily="18" charset="0"/>
                <a:cs typeface="Times New Roman" panose="02020603050405020304" pitchFamily="18" charset="0"/>
              </a:rPr>
              <a:t> – Identifies potentially missing references and related works, functioning as an intelligent peer-review assistant.</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Predictive Research Intelligence</a:t>
            </a:r>
            <a:r>
              <a:rPr lang="en-IN" sz="1600" dirty="0">
                <a:latin typeface="Times New Roman" panose="02020603050405020304" pitchFamily="18" charset="0"/>
                <a:cs typeface="Times New Roman" panose="02020603050405020304" pitchFamily="18" charset="0"/>
              </a:rPr>
              <a:t> – Forecasts emerging research trends and promising future directions by </a:t>
            </a:r>
            <a:r>
              <a:rPr lang="en-IN" sz="1600" dirty="0" err="1">
                <a:latin typeface="Times New Roman" panose="02020603050405020304" pitchFamily="18" charset="0"/>
                <a:cs typeface="Times New Roman" panose="02020603050405020304" pitchFamily="18" charset="0"/>
              </a:rPr>
              <a:t>analyzing</a:t>
            </a:r>
            <a:r>
              <a:rPr lang="en-IN" sz="1600" dirty="0">
                <a:latin typeface="Times New Roman" panose="02020603050405020304" pitchFamily="18" charset="0"/>
                <a:cs typeface="Times New Roman" panose="02020603050405020304" pitchFamily="18" charset="0"/>
              </a:rPr>
              <a:t> publication growth, citation velocity, and keyword evolution.</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Dynamic Knowledge Graph Generation</a:t>
            </a:r>
            <a:r>
              <a:rPr lang="en-IN" sz="1600" dirty="0">
                <a:latin typeface="Times New Roman" panose="02020603050405020304" pitchFamily="18" charset="0"/>
                <a:cs typeface="Times New Roman" panose="02020603050405020304" pitchFamily="18" charset="0"/>
              </a:rPr>
              <a:t> – Automatically constructs and updates interactive knowledge graphs connecting authors, methods, datasets, institutions, and publications.</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Research Opportunity Discovery</a:t>
            </a:r>
            <a:r>
              <a:rPr lang="en-IN" sz="1600" dirty="0">
                <a:latin typeface="Times New Roman" panose="02020603050405020304" pitchFamily="18" charset="0"/>
                <a:cs typeface="Times New Roman" panose="02020603050405020304" pitchFamily="18" charset="0"/>
              </a:rPr>
              <a:t> – Suggests underexplored topics, novel hypotheses, and interdisciplinary connections rather than merely summarizing existing literature.</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Explainable AI-Driven Insights</a:t>
            </a:r>
            <a:r>
              <a:rPr lang="en-IN" sz="1600" dirty="0">
                <a:latin typeface="Times New Roman" panose="02020603050405020304" pitchFamily="18" charset="0"/>
                <a:cs typeface="Times New Roman" panose="02020603050405020304" pitchFamily="18" charset="0"/>
              </a:rPr>
              <a:t> – Provides transparent recommendations supported by citation networks, trend analyses, and evidence from retrieved publications.</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Continuous Learning Framework</a:t>
            </a:r>
            <a:r>
              <a:rPr lang="en-IN" sz="1600" dirty="0">
                <a:latin typeface="Times New Roman" panose="02020603050405020304" pitchFamily="18" charset="0"/>
                <a:cs typeface="Times New Roman" panose="02020603050405020304" pitchFamily="18" charset="0"/>
              </a:rPr>
              <a:t> – Incorporates newly published papers and user feedback to maintain an up-to-date and evolving research ecosystem.</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IBM-Powered Agentic Architecture</a:t>
            </a:r>
            <a:r>
              <a:rPr lang="en-IN" sz="1600" dirty="0">
                <a:latin typeface="Times New Roman" panose="02020603050405020304" pitchFamily="18" charset="0"/>
                <a:cs typeface="Times New Roman" panose="02020603050405020304" pitchFamily="18" charset="0"/>
              </a:rPr>
              <a:t> – Leverages IBM </a:t>
            </a:r>
            <a:r>
              <a:rPr lang="en-IN" sz="1600" dirty="0" err="1">
                <a:latin typeface="Times New Roman" panose="02020603050405020304" pitchFamily="18" charset="0"/>
                <a:cs typeface="Times New Roman" panose="02020603050405020304" pitchFamily="18" charset="0"/>
              </a:rPr>
              <a:t>Langflow</a:t>
            </a:r>
            <a:r>
              <a:rPr lang="en-IN" sz="1600" dirty="0">
                <a:latin typeface="Times New Roman" panose="02020603050405020304" pitchFamily="18" charset="0"/>
                <a:cs typeface="Times New Roman" panose="02020603050405020304" pitchFamily="18" charset="0"/>
              </a:rPr>
              <a:t>, IBM Orchestrate, IBM Granite models, and </a:t>
            </a:r>
            <a:r>
              <a:rPr lang="en-IN" sz="1600" dirty="0" err="1">
                <a:latin typeface="Times New Roman" panose="02020603050405020304" pitchFamily="18" charset="0"/>
                <a:cs typeface="Times New Roman" panose="02020603050405020304" pitchFamily="18" charset="0"/>
              </a:rPr>
              <a:t>Watsonx.ai</a:t>
            </a:r>
            <a:r>
              <a:rPr lang="en-IN" sz="1600" dirty="0">
                <a:latin typeface="Times New Roman" panose="02020603050405020304" pitchFamily="18" charset="0"/>
                <a:cs typeface="Times New Roman" panose="02020603050405020304" pitchFamily="18" charset="0"/>
              </a:rPr>
              <a:t> to deliver a scalable, secure, and enterprise-ready research assistant.</a:t>
            </a:r>
          </a:p>
          <a:p>
            <a:pPr marL="285750" indent="-285750" algn="just">
              <a:buFont typeface="Arial" panose="020B0604020202020204" pitchFamily="34" charset="0"/>
              <a:buChar char="•"/>
            </a:pPr>
            <a:r>
              <a:rPr lang="en-IN" sz="1600" b="1" dirty="0">
                <a:latin typeface="Times New Roman" panose="02020603050405020304" pitchFamily="18" charset="0"/>
                <a:cs typeface="Times New Roman" panose="02020603050405020304" pitchFamily="18" charset="0"/>
              </a:rPr>
              <a:t>End-to-End Research Automation</a:t>
            </a:r>
            <a:r>
              <a:rPr lang="en-IN" sz="1600" dirty="0">
                <a:latin typeface="Times New Roman" panose="02020603050405020304" pitchFamily="18" charset="0"/>
                <a:cs typeface="Times New Roman" panose="02020603050405020304" pitchFamily="18" charset="0"/>
              </a:rPr>
              <a:t> – Enables a complete research cycle: Search → Read → </a:t>
            </a:r>
            <a:r>
              <a:rPr lang="en-IN" sz="1600" dirty="0" err="1">
                <a:latin typeface="Times New Roman" panose="02020603050405020304" pitchFamily="18" charset="0"/>
                <a:cs typeface="Times New Roman" panose="02020603050405020304" pitchFamily="18" charset="0"/>
              </a:rPr>
              <a:t>Analyze</a:t>
            </a:r>
            <a:r>
              <a:rPr lang="en-IN" sz="1600" dirty="0">
                <a:latin typeface="Times New Roman" panose="02020603050405020304" pitchFamily="18" charset="0"/>
                <a:cs typeface="Times New Roman" panose="02020603050405020304" pitchFamily="18" charset="0"/>
              </a:rPr>
              <a:t> → Infer → Predict → Visualize, significantly reducing literature review effort and accelerating scientific discovery.</a:t>
            </a:r>
          </a:p>
        </p:txBody>
      </p:sp>
    </p:spTree>
    <p:extLst>
      <p:ext uri="{BB962C8B-B14F-4D97-AF65-F5344CB8AC3E}">
        <p14:creationId xmlns:p14="http://schemas.microsoft.com/office/powerpoint/2010/main" val="917964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latin typeface="Times New Roman" panose="02020603050405020304" pitchFamily="18" charset="0"/>
                <a:cs typeface="Times New Roman" panose="02020603050405020304" pitchFamily="18" charset="0"/>
                <a:sym typeface="Times New Roman"/>
              </a:rPr>
              <a:t>Git Hub Link</a:t>
            </a:r>
            <a:endParaRPr sz="2400" b="1" dirty="0">
              <a:latin typeface="Times New Roman" panose="02020603050405020304" pitchFamily="18" charset="0"/>
              <a:cs typeface="Times New Roman" panose="02020603050405020304" pitchFamily="18" charset="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24746"/>
            <a:ext cx="9214580" cy="4277001"/>
          </a:xfrm>
          <a:prstGeom prst="rect">
            <a:avLst/>
          </a:prstGeom>
          <a:noFill/>
          <a:ln>
            <a:noFill/>
          </a:ln>
        </p:spPr>
        <p:txBody>
          <a:bodyPr spcFirstLastPara="1" wrap="square" lIns="0" tIns="0" rIns="0" bIns="0" anchor="ctr" anchorCtr="0">
            <a:noAutofit/>
          </a:bodyPr>
          <a:lstStyle/>
          <a:p>
            <a:pPr lvl="0" algn="ctr">
              <a:lnSpc>
                <a:spcPct val="162162"/>
              </a:lnSpc>
              <a:buClr>
                <a:srgbClr val="2B3541"/>
              </a:buClr>
              <a:buSzPts val="1850"/>
            </a:pPr>
            <a:r>
              <a:rPr lang="en-US" sz="1850" b="0" i="0" u="none" strike="noStrike" cap="none" dirty="0">
                <a:solidFill>
                  <a:srgbClr val="2B3541"/>
                </a:solidFill>
                <a:latin typeface="Times New Roman"/>
                <a:ea typeface="Times New Roman"/>
                <a:cs typeface="Times New Roman"/>
                <a:sym typeface="Times New Roman"/>
              </a:rPr>
              <a:t>· </a:t>
            </a:r>
            <a:r>
              <a:rPr lang="en-US" sz="1850" dirty="0">
                <a:solidFill>
                  <a:srgbClr val="2B3541"/>
                </a:solidFill>
                <a:latin typeface="Times New Roman"/>
                <a:ea typeface="Times New Roman"/>
                <a:cs typeface="Times New Roman"/>
                <a:sym typeface="Times New Roman"/>
                <a:hlinkClick r:id="rId3"/>
              </a:rPr>
              <a:t>https://</a:t>
            </a:r>
            <a:r>
              <a:rPr lang="en-US" sz="1850" dirty="0" err="1">
                <a:solidFill>
                  <a:srgbClr val="2B3541"/>
                </a:solidFill>
                <a:latin typeface="Times New Roman"/>
                <a:ea typeface="Times New Roman"/>
                <a:cs typeface="Times New Roman"/>
                <a:sym typeface="Times New Roman"/>
                <a:hlinkClick r:id="rId3"/>
              </a:rPr>
              <a:t>github.com</a:t>
            </a:r>
            <a:r>
              <a:rPr lang="en-US" sz="1850" dirty="0">
                <a:solidFill>
                  <a:srgbClr val="2B3541"/>
                </a:solidFill>
                <a:latin typeface="Times New Roman"/>
                <a:ea typeface="Times New Roman"/>
                <a:cs typeface="Times New Roman"/>
                <a:sym typeface="Times New Roman"/>
                <a:hlinkClick r:id="rId3"/>
              </a:rPr>
              <a:t>/</a:t>
            </a:r>
            <a:r>
              <a:rPr lang="en-US" sz="1850" dirty="0" err="1">
                <a:solidFill>
                  <a:srgbClr val="2B3541"/>
                </a:solidFill>
                <a:latin typeface="Times New Roman"/>
                <a:ea typeface="Times New Roman"/>
                <a:cs typeface="Times New Roman"/>
                <a:sym typeface="Times New Roman"/>
                <a:hlinkClick r:id="rId3"/>
              </a:rPr>
              <a:t>rdutta-ui</a:t>
            </a:r>
            <a:r>
              <a:rPr lang="en-US" sz="1850" dirty="0">
                <a:solidFill>
                  <a:srgbClr val="2B3541"/>
                </a:solidFill>
                <a:latin typeface="Times New Roman"/>
                <a:ea typeface="Times New Roman"/>
                <a:cs typeface="Times New Roman"/>
                <a:sym typeface="Times New Roman"/>
                <a:hlinkClick r:id="rId3"/>
              </a:rPr>
              <a:t>/Research-Agent-</a:t>
            </a:r>
            <a:r>
              <a:rPr lang="en-US" sz="1850" dirty="0" err="1">
                <a:solidFill>
                  <a:srgbClr val="2B3541"/>
                </a:solidFill>
                <a:latin typeface="Times New Roman"/>
                <a:ea typeface="Times New Roman"/>
                <a:cs typeface="Times New Roman"/>
                <a:sym typeface="Times New Roman"/>
                <a:hlinkClick r:id="rId3"/>
              </a:rPr>
              <a:t>Project.git</a:t>
            </a:r>
            <a:r>
              <a:rPr lang="en-US" sz="1850" dirty="0">
                <a:solidFill>
                  <a:srgbClr val="2B3541"/>
                </a:solidFill>
                <a:latin typeface="Times New Roman"/>
                <a:ea typeface="Times New Roman"/>
                <a:cs typeface="Times New Roman"/>
                <a:sym typeface="Times New Roman"/>
              </a:rPr>
              <a:t> </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latin typeface="Times New Roman" panose="02020603050405020304" pitchFamily="18" charset="0"/>
                <a:cs typeface="Times New Roman" panose="02020603050405020304" pitchFamily="18" charset="0"/>
                <a:sym typeface="Times New Roman"/>
              </a:rPr>
              <a:t>Future Scope </a:t>
            </a:r>
            <a:endParaRPr sz="2400" b="1" dirty="0">
              <a:latin typeface="Times New Roman" panose="02020603050405020304" pitchFamily="18" charset="0"/>
              <a:cs typeface="Times New Roman" panose="02020603050405020304" pitchFamily="18" charset="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393947"/>
            <a:ext cx="9214580" cy="4104769"/>
          </a:xfrm>
          <a:prstGeom prst="rect">
            <a:avLst/>
          </a:prstGeom>
          <a:noFill/>
          <a:ln>
            <a:noFill/>
          </a:ln>
        </p:spPr>
        <p:txBody>
          <a:bodyPr spcFirstLastPara="1" wrap="square" lIns="0" tIns="0" rIns="0" bIns="0" anchor="t" anchorCtr="0">
            <a:noAutofit/>
          </a:bodyPr>
          <a:lstStyle/>
          <a:p>
            <a:pPr marL="285750" lvl="0" indent="-285750">
              <a:buFont typeface="Arial" panose="020B0604020202020204" pitchFamily="34" charset="0"/>
              <a:buChar char="•"/>
            </a:pPr>
            <a:r>
              <a:rPr lang="en-IN" sz="1800" b="1" dirty="0">
                <a:latin typeface="Times New Roman" panose="02020603050405020304" pitchFamily="18" charset="0"/>
                <a:cs typeface="Times New Roman" panose="02020603050405020304" pitchFamily="18" charset="0"/>
              </a:rPr>
              <a:t>Automated Manuscript and Grant Proposal Generation</a:t>
            </a:r>
            <a:br>
              <a:rPr lang="en-IN" sz="1800" dirty="0">
                <a:latin typeface="Times New Roman" panose="02020603050405020304" pitchFamily="18" charset="0"/>
                <a:cs typeface="Times New Roman" panose="02020603050405020304" pitchFamily="18" charset="0"/>
              </a:rPr>
            </a:br>
            <a:r>
              <a:rPr lang="en-IN" sz="1800" dirty="0">
                <a:latin typeface="Times New Roman" panose="02020603050405020304" pitchFamily="18" charset="0"/>
                <a:cs typeface="Times New Roman" panose="02020603050405020304" pitchFamily="18" charset="0"/>
              </a:rPr>
              <a:t>Enable </a:t>
            </a:r>
            <a:r>
              <a:rPr lang="en-IN" sz="1800" dirty="0" err="1">
                <a:latin typeface="Times New Roman" panose="02020603050405020304" pitchFamily="18" charset="0"/>
                <a:cs typeface="Times New Roman" panose="02020603050405020304" pitchFamily="18" charset="0"/>
              </a:rPr>
              <a:t>ResearchMind</a:t>
            </a:r>
            <a:r>
              <a:rPr lang="en-IN" sz="1800" dirty="0">
                <a:latin typeface="Times New Roman" panose="02020603050405020304" pitchFamily="18" charset="0"/>
                <a:cs typeface="Times New Roman" panose="02020603050405020304" pitchFamily="18" charset="0"/>
              </a:rPr>
              <a:t> AI to draft research papers, survey articles, and grant proposals by leveraging synthesized literature, identified research gaps, and user-provided experimental results. </a:t>
            </a:r>
          </a:p>
          <a:p>
            <a:pPr marL="285750" lvl="0" indent="-285750">
              <a:buFont typeface="Arial" panose="020B0604020202020204" pitchFamily="34" charset="0"/>
              <a:buChar char="•"/>
            </a:pPr>
            <a:r>
              <a:rPr lang="en-IN" sz="1800" b="1" dirty="0">
                <a:latin typeface="Times New Roman" panose="02020603050405020304" pitchFamily="18" charset="0"/>
                <a:cs typeface="Times New Roman" panose="02020603050405020304" pitchFamily="18" charset="0"/>
              </a:rPr>
              <a:t>Collaborative Research Ecosystem</a:t>
            </a:r>
            <a:br>
              <a:rPr lang="en-IN" sz="1800" dirty="0">
                <a:latin typeface="Times New Roman" panose="02020603050405020304" pitchFamily="18" charset="0"/>
                <a:cs typeface="Times New Roman" panose="02020603050405020304" pitchFamily="18" charset="0"/>
              </a:rPr>
            </a:br>
            <a:r>
              <a:rPr lang="en-IN" sz="1800" dirty="0">
                <a:latin typeface="Times New Roman" panose="02020603050405020304" pitchFamily="18" charset="0"/>
                <a:cs typeface="Times New Roman" panose="02020603050405020304" pitchFamily="18" charset="0"/>
              </a:rPr>
              <a:t>Introduce multi-user workspaces where researchers can share literature collections, annotate papers, track project progress, and receive AI-driven collaboration recommendations based on complementary expertise. </a:t>
            </a:r>
          </a:p>
          <a:p>
            <a:pPr marL="285750" lvl="0" indent="-285750">
              <a:buFont typeface="Arial" panose="020B0604020202020204" pitchFamily="34" charset="0"/>
              <a:buChar char="•"/>
            </a:pPr>
            <a:r>
              <a:rPr lang="en-IN" sz="1800" b="1" dirty="0">
                <a:latin typeface="Times New Roman" panose="02020603050405020304" pitchFamily="18" charset="0"/>
                <a:cs typeface="Times New Roman" panose="02020603050405020304" pitchFamily="18" charset="0"/>
              </a:rPr>
              <a:t>Experimental Design and Hypothesis Validation</a:t>
            </a:r>
            <a:br>
              <a:rPr lang="en-IN" sz="1800" dirty="0">
                <a:latin typeface="Times New Roman" panose="02020603050405020304" pitchFamily="18" charset="0"/>
                <a:cs typeface="Times New Roman" panose="02020603050405020304" pitchFamily="18" charset="0"/>
              </a:rPr>
            </a:br>
            <a:r>
              <a:rPr lang="en-IN" sz="1800" dirty="0">
                <a:latin typeface="Times New Roman" panose="02020603050405020304" pitchFamily="18" charset="0"/>
                <a:cs typeface="Times New Roman" panose="02020603050405020304" pitchFamily="18" charset="0"/>
              </a:rPr>
              <a:t>Extend the agent to suggest experimental methodologies, recommend suitable datasets and evaluation metrics, and simulate potential outcomes to help researchers validate hypotheses before conducting costly experiments.</a:t>
            </a: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28151"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latin typeface="Times New Roman" panose="02020603050405020304" pitchFamily="18" charset="0"/>
                <a:cs typeface="Times New Roman" panose="02020603050405020304" pitchFamily="18" charset="0"/>
              </a:rPr>
              <a:t>Certificates Earned</a:t>
            </a:r>
            <a:endParaRPr lang="en-US"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1708F6AB-16AD-6C5A-FCFE-53F86F2F9C82}"/>
              </a:ext>
            </a:extLst>
          </p:cNvPr>
          <p:cNvPicPr>
            <a:picLocks noChangeAspect="1"/>
          </p:cNvPicPr>
          <p:nvPr/>
        </p:nvPicPr>
        <p:blipFill>
          <a:blip r:embed="rId2"/>
          <a:stretch>
            <a:fillRect/>
          </a:stretch>
        </p:blipFill>
        <p:spPr>
          <a:xfrm>
            <a:off x="2252998" y="685557"/>
            <a:ext cx="7686004" cy="5965063"/>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dirty="0">
                <a:solidFill>
                  <a:srgbClr val="000000"/>
                </a:solidFill>
                <a:latin typeface="Times New Roman" panose="02020603050405020304" pitchFamily="18" charset="0"/>
                <a:cs typeface="Times New Roman" panose="02020603050405020304" pitchFamily="18" charset="0"/>
              </a:rPr>
              <a:t>Certificates Earned</a:t>
            </a:r>
            <a:endParaRPr lang="en-US"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F63C12CB-5FFE-6B7B-99F6-151F4C9F8092}"/>
              </a:ext>
            </a:extLst>
          </p:cNvPr>
          <p:cNvPicPr>
            <a:picLocks noChangeAspect="1"/>
          </p:cNvPicPr>
          <p:nvPr/>
        </p:nvPicPr>
        <p:blipFill>
          <a:blip r:embed="rId2"/>
          <a:stretch>
            <a:fillRect/>
          </a:stretch>
        </p:blipFill>
        <p:spPr>
          <a:xfrm>
            <a:off x="1821813" y="1007195"/>
            <a:ext cx="8548373" cy="5276168"/>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207</TotalTime>
  <Words>1224</Words>
  <Application>Microsoft Office PowerPoint</Application>
  <PresentationFormat>Widescreen</PresentationFormat>
  <Paragraphs>99</Paragraphs>
  <Slides>19</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Rishav Dutta</cp:lastModifiedBy>
  <cp:revision>11</cp:revision>
  <dcterms:created xsi:type="dcterms:W3CDTF">2025-07-08T05:06:56Z</dcterms:created>
  <dcterms:modified xsi:type="dcterms:W3CDTF">2026-06-26T06:49:30Z</dcterms:modified>
</cp:coreProperties>
</file>